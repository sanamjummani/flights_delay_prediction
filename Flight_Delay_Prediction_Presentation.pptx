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61"/>
    <p:restoredTop sz="94676"/>
  </p:normalViewPr>
  <p:slideViewPr>
    <p:cSldViewPr snapToGrid="0" snapToObjects="1">
      <p:cViewPr>
        <p:scale>
          <a:sx n="77" d="100"/>
          <a:sy n="77" d="100"/>
        </p:scale>
        <p:origin x="168" y="8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FB991"/>
                </a:solidFill>
                <a:latin typeface="Franklin Gothic Book"/>
              </a:defRPr>
            </a:pPr>
            <a:r>
              <a:t>DSCI 590  ·  Big Data Analytics &amp; MLOps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Franklin Gothic Book"/>
              </a:defRPr>
            </a:pPr>
            <a:r>
              <a:rPr dirty="0"/>
              <a:t>Flight Delay</a:t>
            </a:r>
          </a:p>
          <a:p>
            <a:pPr algn="l">
              <a:defRPr sz="6400" b="1">
                <a:solidFill>
                  <a:srgbClr val="FFFFFF"/>
                </a:solidFill>
                <a:latin typeface="Franklin Gothic Book"/>
              </a:defRPr>
            </a:pPr>
            <a:r>
              <a:rPr dirty="0"/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0E8"/>
                </a:solidFill>
                <a:latin typeface="Franklin Gothic Book"/>
              </a:defRPr>
            </a:pPr>
            <a:r>
              <a:t>Using Apache Spark · Hive · MLlib on Databricks</a:t>
            </a:r>
          </a:p>
          <a:p>
            <a:pPr algn="l">
              <a:defRPr sz="2200" b="0">
                <a:solidFill>
                  <a:srgbClr val="F5F0E8"/>
                </a:solidFill>
                <a:latin typeface="Franklin Gothic Book"/>
              </a:defRPr>
            </a:pPr>
            <a:r>
              <a:t>US Flights 2019–2023  ·  3 Million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80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Data Selection &amp; Problem 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Data Ingestion &amp; Preprocessing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Exploratory Data Analysis (EDA)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94759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8861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8619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  <a:latin typeface="Franklin Gothic Book"/>
              </a:defRPr>
            </a:pPr>
            <a:r>
              <a:t>Predictive Modeling with Spark MLlib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66344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754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  <a:latin typeface="Franklin Gothic Book"/>
              </a:defRPr>
            </a:pPr>
            <a:r>
              <a:t>MLOps Practices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53212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623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2355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Insights &amp; 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Data Selection &amp;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Problem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Dataset  ·  Business problem  ·  Target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Data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3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t>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rPr lang="en-US" dirty="0"/>
              <a:t>US Domestic </a:t>
            </a:r>
            <a:r>
              <a:rPr dirty="0"/>
              <a:t>Flight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flights_sample_3m.csv  ·  2019–2023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46303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rPr dirty="0"/>
              <a:t>2.9M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t>Modeling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After filtering cancelled flights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79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t>17.6%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t>Delayed Flights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3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DEP_DELAY &gt; 15 min (FAA standard)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40479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5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t>82.4%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t>On-Time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863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Within 15 min of scheduled departure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Business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rPr b="1" dirty="0"/>
              <a:t>Can we predict if a flight will be delayed</a:t>
            </a:r>
          </a:p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rPr b="1" dirty="0"/>
              <a:t>before it departs?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60320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Target: Binary — Delayed (&gt;15 min) vs On-Time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79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319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1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Use case: Airlines, airports, travelers — proactive planning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120640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21207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7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Challenge: Real-time factors (weather, ATC) drive many delays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Data Ingestion &amp;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Databricks DBFS  ·  Spark  ·  Cleaning  ·  Feature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Data Ingestion &amp; 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8016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flights_sample_3m.csv → Databricks</a:t>
            </a:r>
          </a:p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/Volumes/workspace/default/bigdataproject/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FB991"/>
                </a:solidFill>
                <a:latin typeface="Franklin Gothic Book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Read with Spark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spark.read.csv(..., header=True, inferSchema=True)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FB991"/>
                </a:solidFill>
                <a:latin typeface="Franklin Gothic Book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4944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Clean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Remove duplicates · Filter cancelled flights · Handle nulls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FB991"/>
                </a:solidFill>
                <a:latin typeface="Franklin Gothic Book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8408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Feature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MONTH · DAY_OF_WEEK · DEP_HOUR from FL_DATE &amp; CRS_DEP_TIME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Exploratory Data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FB991"/>
                </a:solidFill>
                <a:latin typeface="Franklin Gothic Book"/>
              </a:defRPr>
            </a:pPr>
            <a:r>
              <a:t>Delay breakdown  ·  Airline comparison  ·  Temporal patterns  ·  Visualizations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rPr lang="en-US" dirty="0"/>
              <a:t>Delay Frequency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4688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rPr lang="en-US" dirty="0"/>
              <a:t>33.1</a:t>
            </a:r>
            <a:r>
              <a:rPr dirty="0"/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Delayed Flights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t>DEP_DELAY &gt; 15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24688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rPr lang="en-US" dirty="0"/>
              <a:t>72.5</a:t>
            </a:r>
            <a:r>
              <a:rPr dirty="0"/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31720"/>
            <a:ext cx="2468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rPr lang="en-US" dirty="0"/>
              <a:t>Arrival Delays also had a Departure Delay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383280" y="2916495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rPr lang="en-US" dirty="0"/>
              <a:t>Confirms cascading delay effect in airline operations. 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12648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Delay 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t>Carrier · Weather · NAS · Security · Late Aircraft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t>Evening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rPr dirty="0"/>
              <a:t>Riskiest</a:t>
            </a:r>
            <a:r>
              <a:rPr lang="en-US" dirty="0"/>
              <a:t>- 40% delay rate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23544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rPr dirty="0"/>
              <a:t>Cascading delays pile up through the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411480" cy="4114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69080"/>
            <a:ext cx="4605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rPr dirty="0"/>
              <a:t>Delay causes cascade — carrier and late aircraft delays dominate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800600"/>
            <a:ext cx="411480" cy="4114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4056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rPr dirty="0"/>
              <a:t>Certain airlines and origin airports show significantly higher delay rates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577840"/>
            <a:ext cx="411480" cy="4114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623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4056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rPr dirty="0"/>
              <a:t>Monthly trends: Summer and winter show higher delay rates</a:t>
            </a:r>
          </a:p>
        </p:txBody>
      </p:sp>
      <p:pic>
        <p:nvPicPr>
          <p:cNvPr id="33" name="Picture 32" descr="A graph of blue bars&#10;&#10;AI-generated content may be incorrect.">
            <a:extLst>
              <a:ext uri="{FF2B5EF4-FFF2-40B4-BE49-F238E27FC236}">
                <a16:creationId xmlns:a16="http://schemas.microsoft.com/office/drawing/2014/main" id="{DC24EF81-4445-DA92-6E28-E03FB486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586" y="4023360"/>
            <a:ext cx="6852054" cy="2528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C0270-56E3-87E7-9745-E3E33FC4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874C59-9DDC-9EA6-2AC5-F67014D0DB74}"/>
              </a:ext>
            </a:extLst>
          </p:cNvPr>
          <p:cNvSpPr/>
          <p:nvPr/>
        </p:nvSpPr>
        <p:spPr>
          <a:xfrm>
            <a:off x="73152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7B92FD-6568-A877-9506-064A8BE679C5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753C99-881F-43EE-519B-0A73C60B5C43}"/>
              </a:ext>
            </a:extLst>
          </p:cNvPr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46E27-0299-EF51-9454-5D64A920C171}"/>
              </a:ext>
            </a:extLst>
          </p:cNvPr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F9C25-BAF6-B99D-1A77-5EFC82108B84}"/>
              </a:ext>
            </a:extLst>
          </p:cNvPr>
          <p:cNvSpPr txBox="1"/>
          <p:nvPr/>
        </p:nvSpPr>
        <p:spPr>
          <a:xfrm>
            <a:off x="731520" y="109728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rPr lang="en-US" dirty="0"/>
              <a:t>Airline &amp; Airport Analysis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AB0FC-BF57-2B95-F34F-D720F5CFD272}"/>
              </a:ext>
            </a:extLst>
          </p:cNvPr>
          <p:cNvSpPr txBox="1"/>
          <p:nvPr/>
        </p:nvSpPr>
        <p:spPr>
          <a:xfrm>
            <a:off x="731520" y="1024128"/>
            <a:ext cx="432261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Franklin Gothic Book" panose="020B0503020102020204" pitchFamily="34" charset="0"/>
              </a:rPr>
              <a:t>Airline Delay Performance</a:t>
            </a:r>
          </a:p>
          <a:p>
            <a:endParaRPr lang="en-US" sz="2400" b="1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Franklin Gothic Book" panose="020B0503020102020204" pitchFamily="34" charset="0"/>
              </a:rPr>
              <a:t>JetBlue</a:t>
            </a:r>
            <a:br>
              <a:rPr lang="en-US" dirty="0">
                <a:latin typeface="Franklin Gothic Book" panose="020B0503020102020204" pitchFamily="34" charset="0"/>
              </a:rPr>
            </a:br>
            <a:r>
              <a:rPr lang="en-US" dirty="0">
                <a:latin typeface="Franklin Gothic Book" panose="020B0503020102020204" pitchFamily="34" charset="0"/>
              </a:rPr>
              <a:t>Highest avg arrival delay: 54 minutes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Franklin Gothic Book" panose="020B0503020102020204" pitchFamily="34" charset="0"/>
              </a:rPr>
              <a:t>Alaska Airlines</a:t>
            </a:r>
            <a:br>
              <a:rPr lang="en-US" dirty="0">
                <a:latin typeface="Franklin Gothic Book" panose="020B0503020102020204" pitchFamily="34" charset="0"/>
              </a:rPr>
            </a:br>
            <a:r>
              <a:rPr lang="en-US" dirty="0">
                <a:latin typeface="Franklin Gothic Book" panose="020B0503020102020204" pitchFamily="34" charset="0"/>
              </a:rPr>
              <a:t>Lowest average delay: 28.3 minutes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A0D6F-08C6-5D46-4208-3D056DA5A806}"/>
              </a:ext>
            </a:extLst>
          </p:cNvPr>
          <p:cNvSpPr txBox="1"/>
          <p:nvPr/>
        </p:nvSpPr>
        <p:spPr>
          <a:xfrm>
            <a:off x="6167628" y="1024128"/>
            <a:ext cx="432261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Franklin Gothic Book" panose="020B0503020102020204" pitchFamily="34" charset="0"/>
              </a:rPr>
              <a:t>Airport Delay Rates</a:t>
            </a:r>
          </a:p>
          <a:p>
            <a:endParaRPr lang="en-US" sz="2400" b="1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MDW</a:t>
            </a:r>
            <a:r>
              <a:rPr lang="en-US" dirty="0"/>
              <a:t> — 53.8%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DAL</a:t>
            </a:r>
            <a:r>
              <a:rPr lang="en-US" dirty="0"/>
              <a:t> — 52.5%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HOU </a:t>
            </a:r>
            <a:r>
              <a:rPr lang="en-US" dirty="0"/>
              <a:t>— 50.7%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EBC471-5002-EC4D-F6FB-8ABAEE531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02" y="3349847"/>
            <a:ext cx="7884207" cy="343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Predictive Modeling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with Spark MLlib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Classification  ·  Feature engineering  ·  3 models  · 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ML Pipeline — From Raw Data to Predictions</a:t>
            </a:r>
          </a:p>
        </p:txBody>
      </p:sp>
      <p:pic>
        <p:nvPicPr>
          <p:cNvPr id="7" name="Picture 6" descr="flowchart_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1036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Features Used for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85800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61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647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AIRLINE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647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Categorical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647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Encoded via StringIndexer + OHE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50008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Categorical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Departure airport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08376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081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Categorical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Arrival airport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66744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7398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7398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7398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Month of year (1–12)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25112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3982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DAY_OF_WEEK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39826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3982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1=Sunday … 7=Saturday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83479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0566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DEP_HOUR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056631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0566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Scheduled departure hour (0–23)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41848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DISTANCE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715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Flight distance in miles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1188720"/>
            <a:ext cx="4389120" cy="3200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B991"/>
                </a:solidFill>
                <a:latin typeface="Franklin Gothic Book"/>
              </a:defRPr>
            </a:pPr>
            <a:r>
              <a:t>TARGET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1920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CFB991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9260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Franklin Gothic Book"/>
              </a:defRPr>
            </a:pPr>
            <a:r>
              <a:rPr dirty="0"/>
              <a:t>DELAYED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3832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0E8"/>
                </a:solidFill>
                <a:latin typeface="Franklin Gothic Book"/>
              </a:defRPr>
            </a:pPr>
            <a:r>
              <a:t>DEP_DELAY &gt; 15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399" y="3666744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0E8"/>
                </a:solidFill>
                <a:latin typeface="Franklin Gothic Book"/>
              </a:defRPr>
            </a:pPr>
            <a:r>
              <a:rPr dirty="0"/>
              <a:t>0  = On-Time</a:t>
            </a:r>
          </a:p>
          <a:p>
            <a:pPr algn="l">
              <a:defRPr sz="1600" b="0">
                <a:solidFill>
                  <a:srgbClr val="F5F0E8"/>
                </a:solidFill>
                <a:latin typeface="Franklin Gothic Book"/>
              </a:defRPr>
            </a:pPr>
            <a:r>
              <a:rPr dirty="0"/>
              <a:t>1  = Delayed (&gt;15 min)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5720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⚠  No leakage: DEP_DELAY, ARR_DELAY,</a:t>
            </a:r>
          </a:p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   and DELAY_DUE_* not used as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Feature Importance — What Drives Delays?</a:t>
            </a:r>
          </a:p>
        </p:txBody>
      </p:sp>
      <p:pic>
        <p:nvPicPr>
          <p:cNvPr id="7" name="Picture 6" descr="feature_importa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2976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Model Comparison —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521440" cy="502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61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261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9" y="12618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83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0.6514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783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1783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0.7525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83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9" y="1783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0.7448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04872"/>
            <a:ext cx="1152144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468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0.6476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4688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24688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0.6789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468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9" y="24688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0.7444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90672"/>
            <a:ext cx="11521440" cy="658368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154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Tuned Random Forest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154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0.6525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154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3154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0.6789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154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9" y="3154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0.7444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8862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★ Best model: Tuned RF (numTrees=200, maxDepth=15)  ·  ~0.65 AUC reflects the inherent limit of pre-departure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Model Comparison — AUC · Accuracy · F1 Score</a:t>
            </a:r>
          </a:p>
        </p:txBody>
      </p:sp>
      <p:pic>
        <p:nvPicPr>
          <p:cNvPr id="7" name="Picture 6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8087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~0.65 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Moderate predictive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All 3 models perform similarly — pre-departure features have a ceiling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DEP_HOUR 27.7%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Top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Evening flights delay more — cascading effect from earlier flights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82% On-Time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Class imbalance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Models tend to predict majority class — class weights would help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947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Consistent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Tuned RF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66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Marginal improvement from hyperparameter tuning; more data or features needed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MLOps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Spark Pipelines  ·  MLflow  ·  Experiment tracking  ·  Reproducibility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Automated Spark Pipeline + MLflow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SPARK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StringIndexer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7180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3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OneHotEncoder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VectorAssembler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047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34924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864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RandomForestClassifier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353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MLFLOW EXPERIMENT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810512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90195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Logistic Regression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901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AUC 0.6514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19019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F1 0.7448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044952"/>
            <a:ext cx="5486400" cy="10972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313639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Random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1363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AUC 0.6476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31363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F1 0.7444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279392"/>
            <a:ext cx="5486400" cy="10972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3708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Tuned RF  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37083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AUC 0.6525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437083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F1 0.7444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577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Parameters, metrics, and models logged per run.</a:t>
            </a:r>
          </a:p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Accessible via Databricks Experiments sidebar.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Insights &amp; Business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Key findings  ·  Actionable recommendations  ·  Future 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Key Insights &amp; Business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KEY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Time of day matters most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DEP_HOUR drives 27.7% of predictive power. Evening = risky.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Airline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Some carriers delay significantly more — AIRLINE is 2nd most important feature.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Seasonal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MONTH contributes 5.8% — winter storms and summer demand spikes.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5780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Pre-departure ceiling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All models top out at ~0.65 AUC — real-time data needed to go higher.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188720"/>
            <a:ext cx="5486400" cy="4114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261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691640"/>
            <a:ext cx="457200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7190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Flag high-risk flights (evening, certain airlines/routes) for proactive alerts to passengers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97480"/>
            <a:ext cx="457200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72491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Prioritize airport staffing and gates during peak delay hours (4–8pm)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03320"/>
            <a:ext cx="457200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3075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Integrate real-time weather + air traffic feeds in production to lift AUC beyond 0.65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800600"/>
            <a:ext cx="5486400" cy="3657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4864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FUTURE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57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C1C"/>
                </a:solidFill>
                <a:latin typeface="Franklin Gothic Book"/>
              </a:defRPr>
            </a:pPr>
            <a:r>
              <a:t>→  Class balancing (SMOTE) for imbalanced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97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C1C"/>
                </a:solidFill>
                <a:latin typeface="Franklin Gothic Book"/>
              </a:defRPr>
            </a:pPr>
            <a:r>
              <a:t>→  Add weather &amp; FAA ATC delay feeds as features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Franklin Gothic Book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CFB991"/>
                </a:solidFill>
                <a:latin typeface="Franklin Gothic Book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DSCI 590  ·  Big Data Analytics &amp; MLOps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940</Words>
  <Application>Microsoft Macintosh PowerPoint</Application>
  <PresentationFormat>Custom</PresentationFormat>
  <Paragraphs>254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Franklin Gothic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Jaden Azar</cp:lastModifiedBy>
  <cp:revision>2</cp:revision>
  <dcterms:created xsi:type="dcterms:W3CDTF">2013-01-27T09:14:16Z</dcterms:created>
  <dcterms:modified xsi:type="dcterms:W3CDTF">2026-03-06T03:17:51Z</dcterms:modified>
  <cp:category/>
</cp:coreProperties>
</file>