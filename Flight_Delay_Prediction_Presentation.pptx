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7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9408"/>
    <p:restoredTop sz="94682"/>
  </p:normalViewPr>
  <p:slideViewPr>
    <p:cSldViewPr snapToGrid="0" snapToObjects="1">
      <p:cViewPr varScale="1">
        <p:scale>
          <a:sx n="101" d="100"/>
          <a:sy n="101" d="100"/>
        </p:scale>
        <p:origin x="208" y="5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FB991"/>
                </a:solidFill>
                <a:latin typeface="Franklin Gothic Book"/>
              </a:defRPr>
            </a:pPr>
            <a:r>
              <a:t>DSCI 590  ·  Big Data Analytics &amp; MLOps  ·  Spring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9144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400" b="1">
                <a:solidFill>
                  <a:srgbClr val="FFFFFF"/>
                </a:solidFill>
                <a:latin typeface="Franklin Gothic Book"/>
              </a:defRPr>
            </a:pPr>
            <a:r>
              <a:rPr dirty="0"/>
              <a:t>Flight Delay</a:t>
            </a:r>
          </a:p>
          <a:p>
            <a:pPr algn="l">
              <a:defRPr sz="6400" b="1">
                <a:solidFill>
                  <a:srgbClr val="FFFFFF"/>
                </a:solidFill>
                <a:latin typeface="Franklin Gothic Book"/>
              </a:defRPr>
            </a:pPr>
            <a:r>
              <a:rPr dirty="0"/>
              <a:t>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5F0E8"/>
                </a:solidFill>
                <a:latin typeface="Franklin Gothic Book"/>
              </a:defRPr>
            </a:pPr>
            <a:r>
              <a:t>Using Apache Spark · Hive · MLlib on Databricks</a:t>
            </a:r>
          </a:p>
          <a:p>
            <a:pPr algn="l">
              <a:defRPr sz="2200" b="0">
                <a:solidFill>
                  <a:srgbClr val="F5F0E8"/>
                </a:solidFill>
                <a:latin typeface="Franklin Gothic Book"/>
              </a:defRPr>
            </a:pPr>
            <a:r>
              <a:t>US Flights 2019–2023  ·  3 Million Records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0" cy="9144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" y="22860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Franklin Gothic Book"/>
              </a:defRPr>
            </a:pPr>
            <a:r>
              <a:t>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Franklin Gothic Book"/>
              </a:defRPr>
            </a:pPr>
            <a:r>
              <a:t>Agenda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188720"/>
            <a:ext cx="548640" cy="640080"/>
          </a:xfrm>
          <a:prstGeom prst="round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12801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CFB991"/>
                </a:solidFill>
                <a:latin typeface="Franklin Gothic Book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2801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C1C1C"/>
                </a:solidFill>
                <a:latin typeface="Franklin Gothic Book"/>
              </a:defRPr>
            </a:pPr>
            <a:r>
              <a:t>Data Selection &amp; Problem Definition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2057400"/>
            <a:ext cx="548640" cy="640080"/>
          </a:xfrm>
          <a:prstGeom prst="round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21488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CFB991"/>
                </a:solidFill>
                <a:latin typeface="Franklin Gothic Book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1488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C1C1C"/>
                </a:solidFill>
                <a:latin typeface="Franklin Gothic Book"/>
              </a:defRPr>
            </a:pPr>
            <a:r>
              <a:t>Data Ingestion &amp; Preprocessing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2926080"/>
            <a:ext cx="548640" cy="640080"/>
          </a:xfrm>
          <a:prstGeom prst="round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30175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CFB991"/>
                </a:solidFill>
                <a:latin typeface="Franklin Gothic Book"/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01752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C1C1C"/>
                </a:solidFill>
                <a:latin typeface="Franklin Gothic Book"/>
              </a:defRPr>
            </a:pPr>
            <a:r>
              <a:t>Exploratory Data Analysis (EDA)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3794759"/>
            <a:ext cx="548640" cy="640080"/>
          </a:xfrm>
          <a:prstGeom prst="round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5760" y="3886199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CFB991"/>
                </a:solidFill>
                <a:latin typeface="Franklin Gothic Book"/>
              </a:defRPr>
            </a:pPr>
            <a: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886199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C1C1C"/>
                </a:solidFill>
                <a:latin typeface="Franklin Gothic Book"/>
              </a:defRPr>
            </a:pPr>
            <a:r>
              <a:t>Predictive Modeling with Spark MLlib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4663440"/>
            <a:ext cx="548640" cy="640080"/>
          </a:xfrm>
          <a:prstGeom prst="round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65760" y="4754879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CFB991"/>
                </a:solidFill>
                <a:latin typeface="Franklin Gothic Book"/>
              </a:defRPr>
            </a:pPr>
            <a: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4754879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C1C1C"/>
                </a:solidFill>
                <a:latin typeface="Franklin Gothic Book"/>
              </a:defRPr>
            </a:pPr>
            <a:r>
              <a:t>MLOps Practices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5532120"/>
            <a:ext cx="548640" cy="640080"/>
          </a:xfrm>
          <a:prstGeom prst="round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65760" y="5623559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CFB991"/>
                </a:solidFill>
                <a:latin typeface="Franklin Gothic Book"/>
              </a:defRPr>
            </a:pPr>
            <a: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623559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C1C1C"/>
                </a:solidFill>
                <a:latin typeface="Franklin Gothic Book"/>
              </a:defRPr>
            </a:pPr>
            <a:r>
              <a:t>Insights &amp; Business Recommendations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FB991"/>
                </a:solidFill>
                <a:latin typeface="Franklin Gothic Book"/>
              </a:defRPr>
            </a:pPr>
            <a:r>
              <a:t>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CFB991"/>
                </a:solidFill>
                <a:latin typeface="Franklin Gothic Book"/>
              </a:defRPr>
            </a:pPr>
            <a: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1645920"/>
            <a:ext cx="54864" cy="36576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91840" y="182880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Franklin Gothic Book"/>
              </a:defRPr>
            </a:pPr>
            <a:r>
              <a:t>Data Selection &amp;</a:t>
            </a:r>
          </a:p>
          <a:p>
            <a:pPr algn="l">
              <a:defRPr sz="4800" b="1">
                <a:solidFill>
                  <a:srgbClr val="FFFFFF"/>
                </a:solidFill>
                <a:latin typeface="Franklin Gothic Book"/>
              </a:defRPr>
            </a:pPr>
            <a:r>
              <a:t>Problem Definition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42976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FB991"/>
                </a:solidFill>
                <a:latin typeface="Franklin Gothic Book"/>
              </a:defRPr>
            </a:pPr>
            <a:r>
              <a:t>Dataset  ·  Business problem  ·  Target variable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0" cy="9144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" y="22860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Franklin Gothic Book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Franklin Gothic Book"/>
              </a:defRPr>
            </a:pPr>
            <a:r>
              <a:t>Data at a Glance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548640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463039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1C1C1C"/>
                </a:solidFill>
                <a:latin typeface="Franklin Gothic Book"/>
              </a:defRPr>
            </a:pPr>
            <a:r>
              <a:t>3M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5029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C1C1C"/>
                </a:solidFill>
                <a:latin typeface="Franklin Gothic Book"/>
              </a:defRPr>
            </a:pPr>
            <a:r>
              <a:rPr lang="en-US" dirty="0"/>
              <a:t>US Domestic </a:t>
            </a:r>
            <a:r>
              <a:rPr dirty="0"/>
              <a:t>Flight Records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9260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960"/>
                </a:solidFill>
                <a:latin typeface="Franklin Gothic Book"/>
              </a:defRPr>
            </a:pPr>
            <a:r>
              <a:t>flights_sample_3m.csv  ·  2019–2023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280160"/>
            <a:ext cx="548640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463039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1C1C1C"/>
                </a:solidFill>
                <a:latin typeface="Franklin Gothic Book"/>
              </a:defRPr>
            </a:pPr>
            <a:r>
              <a:rPr dirty="0"/>
              <a:t>2.9M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423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C1C1C"/>
                </a:solidFill>
                <a:latin typeface="Franklin Gothic Book"/>
              </a:defRPr>
            </a:pPr>
            <a:r>
              <a:t>Modeling Dataset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9260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960"/>
                </a:solidFill>
                <a:latin typeface="Franklin Gothic Book"/>
              </a:defRPr>
            </a:pPr>
            <a:r>
              <a:t>After filtering cancelled flights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840479"/>
            <a:ext cx="548640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31520" y="4023359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1C1C1C"/>
                </a:solidFill>
                <a:latin typeface="Franklin Gothic Book"/>
              </a:defRPr>
            </a:pPr>
            <a:r>
              <a:t>17.6%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983479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C1C1C"/>
                </a:solidFill>
                <a:latin typeface="Franklin Gothic Book"/>
              </a:defRPr>
            </a:pPr>
            <a:r>
              <a:t>Delayed Flights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486399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960"/>
                </a:solidFill>
                <a:latin typeface="Franklin Gothic Book"/>
              </a:defRPr>
            </a:pPr>
            <a:r>
              <a:t>DEP_DELAY &gt; 15 min (FAA standard)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3840479"/>
            <a:ext cx="548640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75120" y="4023359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1C1C1C"/>
                </a:solidFill>
                <a:latin typeface="Franklin Gothic Book"/>
              </a:defRPr>
            </a:pPr>
            <a:r>
              <a:t>82.4%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4983479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C1C1C"/>
                </a:solidFill>
                <a:latin typeface="Franklin Gothic Book"/>
              </a:defRPr>
            </a:pPr>
            <a:r>
              <a:t>On-Time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5486399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960"/>
                </a:solidFill>
                <a:latin typeface="Franklin Gothic Book"/>
              </a:defRPr>
            </a:pPr>
            <a:r>
              <a:t>Within 15 min of scheduled departure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0" cy="9144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" y="22860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Franklin Gothic Book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Franklin Gothic Book"/>
              </a:defRPr>
            </a:pPr>
            <a:r>
              <a:t>Business Problem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280160"/>
            <a:ext cx="640080" cy="822960"/>
          </a:xfrm>
          <a:prstGeom prst="round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137160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Franklin Gothic Book"/>
              </a:defRPr>
            </a:pPr>
            <a:r>
              <a:t>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371600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C1C1C"/>
                </a:solidFill>
                <a:latin typeface="Franklin Gothic Book"/>
              </a:defRPr>
            </a:pPr>
            <a:r>
              <a:rPr b="1" dirty="0"/>
              <a:t>Can we predict if a flight will be delayed</a:t>
            </a:r>
          </a:p>
          <a:p>
            <a:pPr algn="l">
              <a:defRPr sz="2200" b="0">
                <a:solidFill>
                  <a:srgbClr val="1C1C1C"/>
                </a:solidFill>
                <a:latin typeface="Franklin Gothic Book"/>
              </a:defRPr>
            </a:pPr>
            <a:r>
              <a:rPr b="1" dirty="0"/>
              <a:t>before it departs?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2560320"/>
            <a:ext cx="640080" cy="822960"/>
          </a:xfrm>
          <a:prstGeom prst="round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265176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Franklin Gothic Book"/>
              </a:defRPr>
            </a:pPr>
            <a:r>
              <a:t>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65176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C1C1C"/>
                </a:solidFill>
                <a:latin typeface="Franklin Gothic Book"/>
              </a:defRPr>
            </a:pPr>
            <a:r>
              <a:t>Target: Binary — Delayed (&gt;15 min) vs On-Time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840479"/>
            <a:ext cx="640080" cy="822960"/>
          </a:xfrm>
          <a:prstGeom prst="round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3931919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Franklin Gothic Book"/>
              </a:defRPr>
            </a:pPr>
            <a:r>
              <a:t>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931919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C1C1C"/>
                </a:solidFill>
                <a:latin typeface="Franklin Gothic Book"/>
              </a:defRPr>
            </a:pPr>
            <a:r>
              <a:t>Use case: Airlines, airports, travelers — proactive planning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5120640"/>
            <a:ext cx="640080" cy="822960"/>
          </a:xfrm>
          <a:prstGeom prst="round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5760" y="5212079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Franklin Gothic Book"/>
              </a:defRPr>
            </a:pPr>
            <a:r>
              <a:t>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5212079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C1C1C"/>
                </a:solidFill>
                <a:latin typeface="Franklin Gothic Book"/>
              </a:defRPr>
            </a:pPr>
            <a:r>
              <a:t>Challenge: Real-time factors (weather, ATC) drive many delays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FB991"/>
                </a:solidFill>
                <a:latin typeface="Franklin Gothic Book"/>
              </a:defRPr>
            </a:pPr>
            <a:r>
              <a:t>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CFB991"/>
                </a:solidFill>
                <a:latin typeface="Franklin Gothic Book"/>
              </a:defRPr>
            </a:pPr>
            <a: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1645920"/>
            <a:ext cx="54864" cy="36576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91840" y="182880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Franklin Gothic Book"/>
              </a:defRPr>
            </a:pPr>
            <a:r>
              <a:t>Data Ingestion &amp;</a:t>
            </a:r>
          </a:p>
          <a:p>
            <a:pPr algn="l">
              <a:defRPr sz="4800" b="1">
                <a:solidFill>
                  <a:srgbClr val="FFFFFF"/>
                </a:solidFill>
                <a:latin typeface="Franklin Gothic Book"/>
              </a:defRPr>
            </a:pPr>
            <a:r>
              <a:t>Preprocessing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42976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FB991"/>
                </a:solidFill>
                <a:latin typeface="Franklin Gothic Book"/>
              </a:defRPr>
            </a:pPr>
            <a:r>
              <a:t>Databricks DBFS  ·  Spark  ·  Cleaning  ·  Feature engineering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0" cy="9144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" y="22860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Franklin Gothic Book"/>
              </a:defRPr>
            </a:pPr>
            <a: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Franklin Gothic Book"/>
              </a:defRPr>
            </a:pPr>
            <a:r>
              <a:t>Data Ingestion &amp; Preprocessing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256032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280160" y="1371600"/>
            <a:ext cx="914400" cy="914400"/>
          </a:xfrm>
          <a:prstGeom prst="round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80160" y="1417320"/>
            <a:ext cx="914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CFB991"/>
                </a:solidFill>
                <a:latin typeface="Franklin Gothic Book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2316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C1C1C"/>
                </a:solidFill>
                <a:latin typeface="Franklin Gothic Book"/>
              </a:defRPr>
            </a:pPr>
            <a:r>
              <a:t>Upload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108960"/>
            <a:ext cx="2011679" cy="36576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3246120"/>
            <a:ext cx="2194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960"/>
                </a:solidFill>
                <a:latin typeface="Franklin Gothic Book"/>
              </a:defRPr>
            </a:pPr>
            <a:r>
              <a:t>flights_sample_3m.csv → Databricks</a:t>
            </a:r>
          </a:p>
          <a:p>
            <a:pPr algn="l">
              <a:defRPr sz="1400" b="0">
                <a:solidFill>
                  <a:srgbClr val="555960"/>
                </a:solidFill>
                <a:latin typeface="Franklin Gothic Book"/>
              </a:defRPr>
            </a:pPr>
            <a:r>
              <a:t>/Volumes/workspace/default/bigdataproject/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3200400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CFB991"/>
                </a:solidFill>
                <a:latin typeface="Franklin Gothic Book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1280160"/>
            <a:ext cx="256032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114800" y="1371600"/>
            <a:ext cx="914400" cy="914400"/>
          </a:xfrm>
          <a:prstGeom prst="round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114800" y="1417320"/>
            <a:ext cx="914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CFB991"/>
                </a:solidFill>
                <a:latin typeface="Franklin Gothic Book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242316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C1C1C"/>
                </a:solidFill>
                <a:latin typeface="Franklin Gothic Book"/>
              </a:defRPr>
            </a:pPr>
            <a:r>
              <a:t>Read with Spark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66160" y="3108960"/>
            <a:ext cx="2011679" cy="36576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474720" y="3246120"/>
            <a:ext cx="2194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960"/>
                </a:solidFill>
                <a:latin typeface="Franklin Gothic Book"/>
              </a:defRPr>
            </a:pPr>
            <a:r>
              <a:t>spark.read.csv(..., header=True, inferSchema=True)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200400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CFB991"/>
                </a:solidFill>
                <a:latin typeface="Franklin Gothic Book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26480" y="1280160"/>
            <a:ext cx="256032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949440" y="1371600"/>
            <a:ext cx="914400" cy="914400"/>
          </a:xfrm>
          <a:prstGeom prst="round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949440" y="1417320"/>
            <a:ext cx="914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CFB991"/>
                </a:solidFill>
                <a:latin typeface="Franklin Gothic Book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242316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C1C1C"/>
                </a:solidFill>
                <a:latin typeface="Franklin Gothic Book"/>
              </a:defRPr>
            </a:pPr>
            <a:r>
              <a:t>Clean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108960"/>
            <a:ext cx="2011679" cy="36576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309360" y="3246120"/>
            <a:ext cx="2194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960"/>
                </a:solidFill>
                <a:latin typeface="Franklin Gothic Book"/>
              </a:defRPr>
            </a:pPr>
            <a:r>
              <a:t>Remove duplicates · Filter cancelled flights · Handle nulls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0" y="3200400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CFB991"/>
                </a:solidFill>
                <a:latin typeface="Franklin Gothic Book"/>
              </a:defRPr>
            </a:pPr>
            <a: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61120" y="1280160"/>
            <a:ext cx="256032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9784080" y="1371600"/>
            <a:ext cx="914400" cy="914400"/>
          </a:xfrm>
          <a:prstGeom prst="round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784080" y="1417320"/>
            <a:ext cx="914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CFB991"/>
                </a:solidFill>
                <a:latin typeface="Franklin Gothic Book"/>
              </a:defRPr>
            </a:pPr>
            <a: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0" y="242316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C1C1C"/>
                </a:solidFill>
                <a:latin typeface="Franklin Gothic Book"/>
              </a:defRPr>
            </a:pPr>
            <a:r>
              <a:t>Feature Engineering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35440" y="3108960"/>
            <a:ext cx="2011679" cy="36576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144000" y="3246120"/>
            <a:ext cx="2194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960"/>
                </a:solidFill>
                <a:latin typeface="Franklin Gothic Book"/>
              </a:defRPr>
            </a:pPr>
            <a:r>
              <a:t>MONTH · DAY_OF_WEEK · DEP_HOUR from FL_DATE &amp; CRS_DEP_TIME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FB991"/>
                </a:solidFill>
                <a:latin typeface="Franklin Gothic Book"/>
              </a:defRPr>
            </a:pPr>
            <a:r>
              <a:t>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CFB991"/>
                </a:solidFill>
                <a:latin typeface="Franklin Gothic Book"/>
              </a:defRPr>
            </a:pPr>
            <a: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1645920"/>
            <a:ext cx="54864" cy="36576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91840" y="182880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Franklin Gothic Book"/>
              </a:defRPr>
            </a:pPr>
            <a:r>
              <a:t>Exploratory Data</a:t>
            </a:r>
          </a:p>
          <a:p>
            <a:pPr algn="l">
              <a:defRPr sz="4800" b="1">
                <a:solidFill>
                  <a:srgbClr val="FFFFFF"/>
                </a:solidFill>
                <a:latin typeface="Franklin Gothic Book"/>
              </a:defRPr>
            </a:pPr>
            <a:r>
              <a:t>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42976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FB991"/>
                </a:solidFill>
                <a:latin typeface="Franklin Gothic Book"/>
              </a:defRPr>
            </a:pPr>
            <a:r>
              <a:t>Delay breakdown  ·  Airline comparison  ·  Temporal patterns  ·  Visualizations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0" cy="9144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" y="22860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Franklin Gothic Book"/>
              </a:defRPr>
            </a:pPr>
            <a: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124712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Franklin Gothic Book"/>
              </a:defRPr>
            </a:pPr>
            <a:r>
              <a:rPr lang="en-US" dirty="0"/>
              <a:t>Delay Frequency</a:t>
            </a:r>
            <a:endParaRPr dirty="0"/>
          </a:p>
        </p:txBody>
      </p:sp>
      <p:sp>
        <p:nvSpPr>
          <p:cNvPr id="7" name="Rounded Rectangle 6"/>
          <p:cNvSpPr/>
          <p:nvPr/>
        </p:nvSpPr>
        <p:spPr>
          <a:xfrm>
            <a:off x="274320" y="1188720"/>
            <a:ext cx="274320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371600"/>
            <a:ext cx="246888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1C1C1C"/>
                </a:solidFill>
                <a:latin typeface="Franklin Gothic Book"/>
              </a:defRPr>
            </a:pPr>
            <a:r>
              <a:rPr lang="en-US" dirty="0"/>
              <a:t>33.1</a:t>
            </a:r>
            <a:r>
              <a:rPr dirty="0"/>
              <a:t>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3172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1C1C"/>
                </a:solidFill>
                <a:latin typeface="Franklin Gothic Book"/>
              </a:defRPr>
            </a:pPr>
            <a:r>
              <a:t>Delayed Flights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43200"/>
            <a:ext cx="24688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960"/>
                </a:solidFill>
                <a:latin typeface="Franklin Gothic Book"/>
              </a:defRPr>
            </a:pPr>
            <a:r>
              <a:rPr lang="en-US" dirty="0"/>
              <a:t>ARR</a:t>
            </a:r>
            <a:r>
              <a:rPr dirty="0"/>
              <a:t>_DELAY &gt; 15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0" y="1188720"/>
            <a:ext cx="274320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83280" y="1371600"/>
            <a:ext cx="246888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1C1C1C"/>
                </a:solidFill>
                <a:latin typeface="Franklin Gothic Book"/>
              </a:defRPr>
            </a:pPr>
            <a:r>
              <a:rPr lang="en-US" dirty="0"/>
              <a:t>72.5</a:t>
            </a:r>
            <a:r>
              <a:rPr dirty="0"/>
              <a:t>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331720"/>
            <a:ext cx="24688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1C1C"/>
                </a:solidFill>
                <a:latin typeface="Franklin Gothic Book"/>
              </a:defRPr>
            </a:pPr>
            <a:r>
              <a:rPr lang="en-US" dirty="0"/>
              <a:t>Arrival Delays also had a Departure Delay</a:t>
            </a:r>
            <a:endParaRPr dirty="0"/>
          </a:p>
        </p:txBody>
      </p:sp>
      <p:sp>
        <p:nvSpPr>
          <p:cNvPr id="14" name="TextBox 13"/>
          <p:cNvSpPr txBox="1"/>
          <p:nvPr/>
        </p:nvSpPr>
        <p:spPr>
          <a:xfrm>
            <a:off x="3383280" y="2916495"/>
            <a:ext cx="24688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960"/>
                </a:solidFill>
                <a:latin typeface="Franklin Gothic Book"/>
              </a:defRPr>
            </a:pPr>
            <a:r>
              <a:rPr lang="en-US" dirty="0"/>
              <a:t>Confirms cascading delay effect in airline operations. </a:t>
            </a:r>
            <a:endParaRPr dirty="0"/>
          </a:p>
        </p:txBody>
      </p:sp>
      <p:sp>
        <p:nvSpPr>
          <p:cNvPr id="15" name="Rounded Rectangle 14"/>
          <p:cNvSpPr/>
          <p:nvPr/>
        </p:nvSpPr>
        <p:spPr>
          <a:xfrm>
            <a:off x="6126480" y="1188720"/>
            <a:ext cx="274320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9360" y="137160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1C1C1C"/>
                </a:solidFill>
                <a:latin typeface="Franklin Gothic Book"/>
              </a:defRPr>
            </a:pPr>
            <a: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33172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1C1C"/>
                </a:solidFill>
                <a:latin typeface="Franklin Gothic Book"/>
              </a:defRPr>
            </a:pPr>
            <a:r>
              <a:t>Delay Causes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74320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960"/>
                </a:solidFill>
                <a:latin typeface="Franklin Gothic Book"/>
              </a:defRPr>
            </a:pPr>
            <a:r>
              <a:t>Carrier · Weather · NAS · Security · Late Aircraft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2560" y="1188720"/>
            <a:ext cx="274320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235440" y="137160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1C1C1C"/>
                </a:solidFill>
                <a:latin typeface="Franklin Gothic Book"/>
              </a:defRPr>
            </a:pPr>
            <a:r>
              <a:t>Evening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2331720"/>
            <a:ext cx="24688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1C1C"/>
                </a:solidFill>
                <a:latin typeface="Franklin Gothic Book"/>
              </a:defRPr>
            </a:pPr>
            <a:r>
              <a:rPr dirty="0"/>
              <a:t>Riskiest</a:t>
            </a:r>
            <a:r>
              <a:rPr lang="en-US" dirty="0"/>
              <a:t>- 40% delay rate</a:t>
            </a:r>
            <a:endParaRPr dirty="0"/>
          </a:p>
        </p:txBody>
      </p:sp>
      <p:sp>
        <p:nvSpPr>
          <p:cNvPr id="22" name="TextBox 21"/>
          <p:cNvSpPr txBox="1"/>
          <p:nvPr/>
        </p:nvSpPr>
        <p:spPr>
          <a:xfrm>
            <a:off x="9235440" y="274320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960"/>
                </a:solidFill>
                <a:latin typeface="Franklin Gothic Book"/>
              </a:defRPr>
            </a:pPr>
            <a:r>
              <a:rPr dirty="0"/>
              <a:t>Cascading delays pile up through the day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4023360"/>
            <a:ext cx="411480" cy="411480"/>
          </a:xfrm>
          <a:prstGeom prst="round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65760" y="406908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Franklin Gothic Book"/>
              </a:defRPr>
            </a:pPr>
            <a: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069080"/>
            <a:ext cx="460525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C1C1C"/>
                </a:solidFill>
                <a:latin typeface="Franklin Gothic Book"/>
              </a:defRPr>
            </a:pPr>
            <a:r>
              <a:rPr dirty="0"/>
              <a:t>Delay causes cascade — carrier and late aircraft delays dominate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5760" y="4800600"/>
            <a:ext cx="411480" cy="411480"/>
          </a:xfrm>
          <a:prstGeom prst="round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65760" y="484632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Franklin Gothic Book"/>
              </a:defRPr>
            </a:pPr>
            <a: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4846320"/>
            <a:ext cx="40566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C1C1C"/>
                </a:solidFill>
                <a:latin typeface="Franklin Gothic Book"/>
              </a:defRPr>
            </a:pPr>
            <a:r>
              <a:rPr dirty="0"/>
              <a:t>Certain airlines and origin airports show significantly higher delay rates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5760" y="5577840"/>
            <a:ext cx="411480" cy="411480"/>
          </a:xfrm>
          <a:prstGeom prst="round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65760" y="562356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Franklin Gothic Book"/>
              </a:defRPr>
            </a:pPr>
            <a: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623560"/>
            <a:ext cx="40566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C1C1C"/>
                </a:solidFill>
                <a:latin typeface="Franklin Gothic Book"/>
              </a:defRPr>
            </a:pPr>
            <a:r>
              <a:rPr dirty="0"/>
              <a:t>Monthly trends: Summer and winter show higher delay rates</a:t>
            </a:r>
          </a:p>
        </p:txBody>
      </p:sp>
      <p:pic>
        <p:nvPicPr>
          <p:cNvPr id="33" name="Picture 32" descr="A graph of blue bars&#10;&#10;AI-generated content may be incorrect.">
            <a:extLst>
              <a:ext uri="{FF2B5EF4-FFF2-40B4-BE49-F238E27FC236}">
                <a16:creationId xmlns:a16="http://schemas.microsoft.com/office/drawing/2014/main" id="{DC24EF81-4445-DA92-6E28-E03FB486F9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6586" y="4023360"/>
            <a:ext cx="6852054" cy="252847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9C0270-56E3-87E7-9745-E3E33FC4B6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6874C59-9DDC-9EA6-2AC5-F67014D0DB74}"/>
              </a:ext>
            </a:extLst>
          </p:cNvPr>
          <p:cNvSpPr/>
          <p:nvPr/>
        </p:nvSpPr>
        <p:spPr>
          <a:xfrm>
            <a:off x="73152" y="0"/>
            <a:ext cx="12188952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87B92FD-6568-A877-9506-064A8BE679C5}"/>
              </a:ext>
            </a:extLst>
          </p:cNvPr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D753C99-881F-43EE-519B-0A73C60B5C43}"/>
              </a:ext>
            </a:extLst>
          </p:cNvPr>
          <p:cNvSpPr/>
          <p:nvPr/>
        </p:nvSpPr>
        <p:spPr>
          <a:xfrm>
            <a:off x="0" y="0"/>
            <a:ext cx="548640" cy="9144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F46E27-0299-EF51-9454-5D64A920C171}"/>
              </a:ext>
            </a:extLst>
          </p:cNvPr>
          <p:cNvSpPr txBox="1"/>
          <p:nvPr/>
        </p:nvSpPr>
        <p:spPr>
          <a:xfrm>
            <a:off x="73152" y="22860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Franklin Gothic Book"/>
              </a:defRPr>
            </a:pPr>
            <a:r>
              <a:t>04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D5F9C25-BAF6-B99D-1A77-5EFC82108B84}"/>
              </a:ext>
            </a:extLst>
          </p:cNvPr>
          <p:cNvSpPr txBox="1"/>
          <p:nvPr/>
        </p:nvSpPr>
        <p:spPr>
          <a:xfrm>
            <a:off x="731520" y="109728"/>
            <a:ext cx="1124712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Franklin Gothic Book"/>
              </a:defRPr>
            </a:pPr>
            <a:r>
              <a:rPr lang="en-US" dirty="0"/>
              <a:t>Airline &amp; Airport Analysis</a:t>
            </a:r>
            <a:endParaRPr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EAB0FC-BF57-2B95-F34F-D720F5CFD272}"/>
              </a:ext>
            </a:extLst>
          </p:cNvPr>
          <p:cNvSpPr txBox="1"/>
          <p:nvPr/>
        </p:nvSpPr>
        <p:spPr>
          <a:xfrm>
            <a:off x="731520" y="1024128"/>
            <a:ext cx="4322618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Franklin Gothic Book" panose="020B0503020102020204" pitchFamily="34" charset="0"/>
              </a:rPr>
              <a:t>Airline Delay Performance</a:t>
            </a:r>
          </a:p>
          <a:p>
            <a:endParaRPr lang="en-US" sz="2400" b="1" dirty="0">
              <a:latin typeface="Franklin Gothic Book" panose="020B05030201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Franklin Gothic Book" panose="020B0503020102020204" pitchFamily="34" charset="0"/>
              </a:rPr>
              <a:t>JetBlue</a:t>
            </a:r>
            <a:br>
              <a:rPr lang="en-US" dirty="0">
                <a:latin typeface="Franklin Gothic Book" panose="020B0503020102020204" pitchFamily="34" charset="0"/>
              </a:rPr>
            </a:br>
            <a:r>
              <a:rPr lang="en-US" dirty="0">
                <a:latin typeface="Franklin Gothic Book" panose="020B0503020102020204" pitchFamily="34" charset="0"/>
              </a:rPr>
              <a:t>Highest avg arrival delay: 54 minutes</a:t>
            </a:r>
          </a:p>
          <a:p>
            <a:endParaRPr lang="en-US" dirty="0">
              <a:latin typeface="Franklin Gothic Book" panose="020B05030201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Franklin Gothic Book" panose="020B0503020102020204" pitchFamily="34" charset="0"/>
              </a:rPr>
              <a:t>Alaska Airlines</a:t>
            </a:r>
            <a:br>
              <a:rPr lang="en-US" dirty="0">
                <a:latin typeface="Franklin Gothic Book" panose="020B0503020102020204" pitchFamily="34" charset="0"/>
              </a:rPr>
            </a:br>
            <a:r>
              <a:rPr lang="en-US" dirty="0">
                <a:latin typeface="Franklin Gothic Book" panose="020B0503020102020204" pitchFamily="34" charset="0"/>
              </a:rPr>
              <a:t>Lowest average delay: 28.3 minutes</a:t>
            </a:r>
          </a:p>
          <a:p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AA0D6F-08C6-5D46-4208-3D056DA5A806}"/>
              </a:ext>
            </a:extLst>
          </p:cNvPr>
          <p:cNvSpPr txBox="1"/>
          <p:nvPr/>
        </p:nvSpPr>
        <p:spPr>
          <a:xfrm>
            <a:off x="6167628" y="1024128"/>
            <a:ext cx="4322618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Franklin Gothic Book" panose="020B0503020102020204" pitchFamily="34" charset="0"/>
              </a:rPr>
              <a:t>Airport Delay Rates</a:t>
            </a:r>
          </a:p>
          <a:p>
            <a:endParaRPr lang="en-US" sz="2400" b="1" dirty="0">
              <a:latin typeface="Franklin Gothic Book" panose="020B05030201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MDW</a:t>
            </a:r>
            <a:r>
              <a:rPr lang="en-US" dirty="0"/>
              <a:t> — 53.8%</a:t>
            </a:r>
            <a:br>
              <a:rPr lang="en-US" dirty="0"/>
            </a:b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DAL</a:t>
            </a:r>
            <a:r>
              <a:rPr lang="en-US" dirty="0"/>
              <a:t> — 52.5%</a:t>
            </a:r>
            <a:br>
              <a:rPr lang="en-US" dirty="0"/>
            </a:b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HOU </a:t>
            </a:r>
            <a:r>
              <a:rPr lang="en-US" dirty="0"/>
              <a:t>— 50.7%</a:t>
            </a:r>
          </a:p>
        </p:txBody>
      </p:sp>
      <p:pic>
        <p:nvPicPr>
          <p:cNvPr id="11" name="Picture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0EBC471-5002-EC4D-F6FB-8ABAEE5319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0402" y="3349847"/>
            <a:ext cx="7884207" cy="3434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577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FB991"/>
                </a:solidFill>
                <a:latin typeface="Franklin Gothic Book"/>
              </a:defRPr>
            </a:pPr>
            <a:r>
              <a:t>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CFB991"/>
                </a:solidFill>
                <a:latin typeface="Franklin Gothic Book"/>
              </a:defRPr>
            </a:pPr>
            <a:r>
              <a:t>04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1645920"/>
            <a:ext cx="54864" cy="36576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91840" y="182880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Franklin Gothic Book"/>
              </a:defRPr>
            </a:pPr>
            <a:r>
              <a:t>Predictive Modeling</a:t>
            </a:r>
          </a:p>
          <a:p>
            <a:pPr algn="l">
              <a:defRPr sz="4800" b="1">
                <a:solidFill>
                  <a:srgbClr val="FFFFFF"/>
                </a:solidFill>
                <a:latin typeface="Franklin Gothic Book"/>
              </a:defRPr>
            </a:pPr>
            <a:r>
              <a:t>with Spark MLlib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42976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FB991"/>
                </a:solidFill>
                <a:latin typeface="Franklin Gothic Book"/>
              </a:defRPr>
            </a:pPr>
            <a:r>
              <a:t>Classification  ·  Feature engineering  ·  3 models  ·  Evaluation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0" cy="9144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" y="22860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Franklin Gothic Book"/>
              </a:defRPr>
            </a:pPr>
            <a: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Franklin Gothic Book"/>
              </a:defRPr>
            </a:pPr>
            <a:r>
              <a:t>ML Pipeline — From Raw Data to Predictions</a:t>
            </a:r>
          </a:p>
        </p:txBody>
      </p:sp>
      <p:pic>
        <p:nvPicPr>
          <p:cNvPr id="7" name="Picture 6" descr="flowchart_ml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11430000" cy="410361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0" cy="9144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" y="22860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Franklin Gothic Book"/>
              </a:defRPr>
            </a:pPr>
            <a: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Franklin Gothic Book"/>
              </a:defRPr>
            </a:pPr>
            <a:r>
              <a:t>Features Used for Prediction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88720"/>
            <a:ext cx="6858000" cy="4572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26187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Franklin Gothic Book"/>
              </a:defRPr>
            </a:pPr>
            <a:r>
              <a:t>FEATURE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126187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Franklin Gothic Book"/>
              </a:defRPr>
            </a:pPr>
            <a:r>
              <a:t>TYPE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126187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Franklin Gothic Book"/>
              </a:defRPr>
            </a:pPr>
            <a:r>
              <a:t>DESCRIPTION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691640"/>
            <a:ext cx="6858000" cy="64008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176479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1C1C"/>
                </a:solidFill>
                <a:latin typeface="Franklin Gothic Book"/>
              </a:defRPr>
            </a:pPr>
            <a:r>
              <a:t>AIRLINE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1764792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FB991"/>
                </a:solidFill>
                <a:latin typeface="Franklin Gothic Book"/>
              </a:defRPr>
            </a:pPr>
            <a:r>
              <a:t>Categorical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176479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960"/>
                </a:solidFill>
                <a:latin typeface="Franklin Gothic Book"/>
              </a:defRPr>
            </a:pPr>
            <a:r>
              <a:t>Encoded via StringIndexer + OHE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350008"/>
            <a:ext cx="685800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48640" y="242316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1C1C"/>
                </a:solidFill>
                <a:latin typeface="Franklin Gothic Book"/>
              </a:defRPr>
            </a:pPr>
            <a:r>
              <a:t>ORIGIN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242316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FB991"/>
                </a:solidFill>
                <a:latin typeface="Franklin Gothic Book"/>
              </a:defRPr>
            </a:pPr>
            <a:r>
              <a:t>Categorical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242316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960"/>
                </a:solidFill>
                <a:latin typeface="Franklin Gothic Book"/>
              </a:defRPr>
            </a:pPr>
            <a:r>
              <a:t>Departure airport code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008376"/>
            <a:ext cx="6858000" cy="64008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8640" y="3081528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1C1C"/>
                </a:solidFill>
                <a:latin typeface="Franklin Gothic Book"/>
              </a:defRPr>
            </a:pPr>
            <a:r>
              <a:t>DEST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3081528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FB991"/>
                </a:solidFill>
                <a:latin typeface="Franklin Gothic Book"/>
              </a:defRPr>
            </a:pPr>
            <a:r>
              <a:t>Categorical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3081528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960"/>
                </a:solidFill>
                <a:latin typeface="Franklin Gothic Book"/>
              </a:defRPr>
            </a:pPr>
            <a:r>
              <a:t>Arrival airport code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666744"/>
            <a:ext cx="685800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48640" y="3739896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1C1C"/>
                </a:solidFill>
                <a:latin typeface="Franklin Gothic Book"/>
              </a:defRPr>
            </a:pPr>
            <a:r>
              <a:t>MONTH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3739896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FB991"/>
                </a:solidFill>
                <a:latin typeface="Franklin Gothic Book"/>
              </a:defRPr>
            </a:pPr>
            <a:r>
              <a:t>Numeric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3739896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960"/>
                </a:solidFill>
                <a:latin typeface="Franklin Gothic Book"/>
              </a:defRPr>
            </a:pPr>
            <a:r>
              <a:t>Month of year (1–12)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325112"/>
            <a:ext cx="6858000" cy="64008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48640" y="4398264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1C1C"/>
                </a:solidFill>
                <a:latin typeface="Franklin Gothic Book"/>
              </a:defRPr>
            </a:pPr>
            <a:r>
              <a:t>DAY_OF_WEEK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80" y="4398264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FB991"/>
                </a:solidFill>
                <a:latin typeface="Franklin Gothic Book"/>
              </a:defRPr>
            </a:pPr>
            <a:r>
              <a:t>Numeric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46320" y="4398264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960"/>
                </a:solidFill>
                <a:latin typeface="Franklin Gothic Book"/>
              </a:defRPr>
            </a:pPr>
            <a:r>
              <a:t>1=Sunday … 7=Saturday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4983479"/>
            <a:ext cx="685800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48640" y="5056631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1C1C"/>
                </a:solidFill>
                <a:latin typeface="Franklin Gothic Book"/>
              </a:defRPr>
            </a:pPr>
            <a:r>
              <a:t>DEP_HOUR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26080" y="5056631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FB991"/>
                </a:solidFill>
                <a:latin typeface="Franklin Gothic Book"/>
              </a:defRPr>
            </a:pPr>
            <a:r>
              <a:t>Numeric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0" y="5056631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960"/>
                </a:solidFill>
                <a:latin typeface="Franklin Gothic Book"/>
              </a:defRPr>
            </a:pPr>
            <a:r>
              <a:t>Scheduled departure hour (0–23)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5641848"/>
            <a:ext cx="6858000" cy="64008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48640" y="571500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1C1C"/>
                </a:solidFill>
                <a:latin typeface="Franklin Gothic Book"/>
              </a:defRPr>
            </a:pPr>
            <a:r>
              <a:t>DISTANCE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26080" y="571500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FB991"/>
                </a:solidFill>
                <a:latin typeface="Franklin Gothic Book"/>
              </a:defRPr>
            </a:pPr>
            <a:r>
              <a:t>Numeric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46320" y="571500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960"/>
                </a:solidFill>
                <a:latin typeface="Franklin Gothic Book"/>
              </a:defRPr>
            </a:pPr>
            <a:r>
              <a:t>Flight distance in miles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498079" y="1188720"/>
            <a:ext cx="4389120" cy="3200400"/>
          </a:xfrm>
          <a:prstGeom prst="round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772400" y="137160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FB991"/>
                </a:solidFill>
                <a:latin typeface="Franklin Gothic Book"/>
              </a:defRPr>
            </a:pPr>
            <a:r>
              <a:t>TARGET LABEL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0" y="192024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CFB991"/>
                </a:solidFill>
                <a:latin typeface="Franklin Gothic Book"/>
              </a:defRPr>
            </a:pPr>
            <a: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72400" y="292608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Franklin Gothic Book"/>
              </a:defRPr>
            </a:pPr>
            <a:r>
              <a:rPr dirty="0"/>
              <a:t>DELAYED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0" y="338328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5F0E8"/>
                </a:solidFill>
                <a:latin typeface="Franklin Gothic Book"/>
              </a:defRPr>
            </a:pPr>
            <a:r>
              <a:t>DEP_DELAY &gt; 15 min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399" y="3666744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5F0E8"/>
                </a:solidFill>
                <a:latin typeface="Franklin Gothic Book"/>
              </a:defRPr>
            </a:pPr>
            <a:r>
              <a:rPr dirty="0"/>
              <a:t>0  = On-Time</a:t>
            </a:r>
          </a:p>
          <a:p>
            <a:pPr algn="l">
              <a:defRPr sz="1600" b="0">
                <a:solidFill>
                  <a:srgbClr val="F5F0E8"/>
                </a:solidFill>
                <a:latin typeface="Franklin Gothic Book"/>
              </a:defRPr>
            </a:pPr>
            <a:r>
              <a:rPr dirty="0"/>
              <a:t>1  = Delayed (&gt;15 min)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79" y="4572000"/>
            <a:ext cx="4389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C1C1C"/>
                </a:solidFill>
                <a:latin typeface="Franklin Gothic Book"/>
              </a:defRPr>
            </a:pPr>
            <a:r>
              <a:t>⚠  No leakage: DEP_DELAY, ARR_DELAY,</a:t>
            </a:r>
          </a:p>
          <a:p>
            <a:pPr algn="l">
              <a:defRPr sz="1400" b="0">
                <a:solidFill>
                  <a:srgbClr val="1C1C1C"/>
                </a:solidFill>
                <a:latin typeface="Franklin Gothic Book"/>
              </a:defRPr>
            </a:pPr>
            <a:r>
              <a:t>   and DELAY_DUE_* not used as features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0" cy="9144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" y="22860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Franklin Gothic Book"/>
              </a:defRPr>
            </a:pPr>
            <a: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Franklin Gothic Book"/>
              </a:defRPr>
            </a:pPr>
            <a:r>
              <a:t>Feature Importance — What Drives Delays?</a:t>
            </a:r>
          </a:p>
        </p:txBody>
      </p:sp>
      <p:pic>
        <p:nvPicPr>
          <p:cNvPr id="7" name="Picture 6" descr="feature_importance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11430000" cy="629763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0" cy="9144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" y="22860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Franklin Gothic Book"/>
              </a:defRPr>
            </a:pPr>
            <a: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Franklin Gothic Book"/>
              </a:defRPr>
            </a:pPr>
            <a:r>
              <a:t>Model Comparison — Results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88720"/>
            <a:ext cx="11521440" cy="50292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261872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Franklin Gothic Book"/>
              </a:defRPr>
            </a:pPr>
            <a: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126187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Franklin Gothic Book"/>
              </a:defRPr>
            </a:pPr>
            <a:r>
              <a:t>AUC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1261872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Franklin Gothic Book"/>
              </a:defRPr>
            </a:pPr>
            <a:r>
              <a:t>Accuracy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59" y="1261872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Franklin Gothic Book"/>
              </a:defRPr>
            </a:pPr>
            <a:r>
              <a:t>Precision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126187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Franklin Gothic Book"/>
              </a:defRPr>
            </a:pPr>
            <a:r>
              <a:t>Recall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19" y="1261872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Franklin Gothic Book"/>
              </a:defRPr>
            </a:pPr>
            <a:r>
              <a:t>F1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719072"/>
            <a:ext cx="1152144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178308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C1C1C"/>
                </a:solidFill>
                <a:latin typeface="Franklin Gothic Book"/>
              </a:defRPr>
            </a:pPr>
            <a:r>
              <a:t>Logistic Regression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178308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C1C1C"/>
                </a:solidFill>
                <a:latin typeface="Franklin Gothic Book"/>
              </a:defRPr>
            </a:pPr>
            <a:r>
              <a:t>0.6514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1783080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C1C1C"/>
                </a:solidFill>
                <a:latin typeface="Franklin Gothic Book"/>
              </a:defRPr>
            </a:pPr>
            <a:r>
              <a:t>0.8239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59" y="1783080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C1C1C"/>
                </a:solidFill>
                <a:latin typeface="Franklin Gothic Book"/>
              </a:defRPr>
            </a:pPr>
            <a:r>
              <a:t>0.7525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178308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C1C1C"/>
                </a:solidFill>
                <a:latin typeface="Franklin Gothic Book"/>
              </a:defRPr>
            </a:pPr>
            <a:r>
              <a:t>0.8239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19" y="178308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C1C1C"/>
                </a:solidFill>
                <a:latin typeface="Franklin Gothic Book"/>
              </a:defRPr>
            </a:pPr>
            <a:r>
              <a:t>0.7448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404872"/>
            <a:ext cx="11521440" cy="658368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" y="246888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C1C1C"/>
                </a:solidFill>
                <a:latin typeface="Franklin Gothic Book"/>
              </a:defRPr>
            </a:pPr>
            <a:r>
              <a:t>Random Forest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246888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C1C1C"/>
                </a:solidFill>
                <a:latin typeface="Franklin Gothic Book"/>
              </a:defRPr>
            </a:pPr>
            <a:r>
              <a:t>0.6476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2468880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C1C1C"/>
                </a:solidFill>
                <a:latin typeface="Franklin Gothic Book"/>
              </a:defRPr>
            </a:pPr>
            <a:r>
              <a:t>0.8240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59" y="2468880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C1C1C"/>
                </a:solidFill>
                <a:latin typeface="Franklin Gothic Book"/>
              </a:defRPr>
            </a:pPr>
            <a:r>
              <a:t>0.6789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0" y="246888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C1C1C"/>
                </a:solidFill>
                <a:latin typeface="Franklin Gothic Book"/>
              </a:defRPr>
            </a:pPr>
            <a:r>
              <a:t>0.8240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2719" y="246888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C1C1C"/>
                </a:solidFill>
                <a:latin typeface="Franklin Gothic Book"/>
              </a:defRPr>
            </a:pPr>
            <a:r>
              <a:t>0.7444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090672"/>
            <a:ext cx="11521440" cy="658368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7200" y="315468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C1C1C"/>
                </a:solidFill>
                <a:latin typeface="Franklin Gothic Book"/>
              </a:defRPr>
            </a:pPr>
            <a:r>
              <a:t>Tuned Random Forest 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0" y="315468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C1C1C"/>
                </a:solidFill>
                <a:latin typeface="Franklin Gothic Book"/>
              </a:defRPr>
            </a:pPr>
            <a:r>
              <a:t>0.6525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77840" y="3154680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C1C1C"/>
                </a:solidFill>
                <a:latin typeface="Franklin Gothic Book"/>
              </a:defRPr>
            </a:pPr>
            <a:r>
              <a:t>0.8240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59" y="3154680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C1C1C"/>
                </a:solidFill>
                <a:latin typeface="Franklin Gothic Book"/>
              </a:defRPr>
            </a:pPr>
            <a:r>
              <a:t>0.6789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9680" y="315468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C1C1C"/>
                </a:solidFill>
                <a:latin typeface="Franklin Gothic Book"/>
              </a:defRPr>
            </a:pPr>
            <a:r>
              <a:t>0.8240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19" y="315468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C1C1C"/>
                </a:solidFill>
                <a:latin typeface="Franklin Gothic Book"/>
              </a:defRPr>
            </a:pPr>
            <a:r>
              <a:t>0.7444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388620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960"/>
                </a:solidFill>
                <a:latin typeface="Franklin Gothic Book"/>
              </a:defRPr>
            </a:pPr>
            <a:r>
              <a:t>★ Best model: Tuned RF (numTrees=200, maxDepth=15)  ·  ~0.65 AUC reflects the inherent limit of pre-departure features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0" cy="9144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" y="22860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Franklin Gothic Book"/>
              </a:defRPr>
            </a:pPr>
            <a: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Franklin Gothic Book"/>
              </a:defRPr>
            </a:pPr>
            <a:r>
              <a:t>Model Comparison — AUC · Accuracy · F1 Score</a:t>
            </a:r>
          </a:p>
        </p:txBody>
      </p:sp>
      <p:pic>
        <p:nvPicPr>
          <p:cNvPr id="7" name="Picture 6" descr="model_comparison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11430000" cy="680870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0" cy="9144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" y="22860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Franklin Gothic Book"/>
              </a:defRPr>
            </a:pPr>
            <a: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Franklin Gothic Book"/>
              </a:defRPr>
            </a:pPr>
            <a:r>
              <a:t>Interpretation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280160"/>
            <a:ext cx="557784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463039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C1C1C"/>
                </a:solidFill>
                <a:latin typeface="Franklin Gothic Book"/>
              </a:defRPr>
            </a:pPr>
            <a:r>
              <a:t>~0.65 AUC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C1C1C"/>
                </a:solidFill>
                <a:latin typeface="Franklin Gothic Book"/>
              </a:defRPr>
            </a:pPr>
            <a:r>
              <a:t>Moderate predictive power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5176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960"/>
                </a:solidFill>
                <a:latin typeface="Franklin Gothic Book"/>
              </a:defRPr>
            </a:pPr>
            <a:r>
              <a:t>All 3 models perform similarly — pre-departure features have a ceiling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280160"/>
            <a:ext cx="557784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83680" y="1463039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C1C1C"/>
                </a:solidFill>
                <a:latin typeface="Franklin Gothic Book"/>
              </a:defRPr>
            </a:pPr>
            <a:r>
              <a:t>DEP_HOUR 27.7%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1945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C1C1C"/>
                </a:solidFill>
                <a:latin typeface="Franklin Gothic Book"/>
              </a:defRPr>
            </a:pPr>
            <a:r>
              <a:t>Top predictor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65176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960"/>
                </a:solidFill>
                <a:latin typeface="Franklin Gothic Book"/>
              </a:defRPr>
            </a:pPr>
            <a:r>
              <a:t>Evening flights delay more — cascading effect from earlier flights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794760"/>
            <a:ext cx="557784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397764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C1C1C"/>
                </a:solidFill>
                <a:latin typeface="Franklin Gothic Book"/>
              </a:defRPr>
            </a:pPr>
            <a:r>
              <a:rPr dirty="0"/>
              <a:t>82% On-Time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7091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C1C1C"/>
                </a:solidFill>
                <a:latin typeface="Franklin Gothic Book"/>
              </a:defRPr>
            </a:pPr>
            <a:r>
              <a:rPr dirty="0"/>
              <a:t>Class imbalance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16636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960"/>
                </a:solidFill>
                <a:latin typeface="Franklin Gothic Book"/>
              </a:defRPr>
            </a:pPr>
            <a:r>
              <a:t>Models tend to predict majority class — class weights would help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3794760"/>
            <a:ext cx="557784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83680" y="397764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C1C1C"/>
                </a:solidFill>
                <a:latin typeface="Franklin Gothic Book"/>
              </a:defRPr>
            </a:pPr>
            <a:r>
              <a:t>Consistent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7091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C1C1C"/>
                </a:solidFill>
                <a:latin typeface="Franklin Gothic Book"/>
              </a:defRPr>
            </a:pPr>
            <a:r>
              <a:t>Tuned RF wins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516636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960"/>
                </a:solidFill>
                <a:latin typeface="Franklin Gothic Book"/>
              </a:defRPr>
            </a:pPr>
            <a:r>
              <a:t>Marginal improvement from hyperparameter tuning; more data or features needed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FB991"/>
                </a:solidFill>
                <a:latin typeface="Franklin Gothic Book"/>
              </a:defRPr>
            </a:pPr>
            <a:r>
              <a:t>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CFB991"/>
                </a:solidFill>
                <a:latin typeface="Franklin Gothic Book"/>
              </a:defRPr>
            </a:pPr>
            <a:r>
              <a:t>05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1645920"/>
            <a:ext cx="54864" cy="36576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91840" y="210312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Franklin Gothic Book"/>
              </a:defRPr>
            </a:pPr>
            <a:r>
              <a:t>MLOps Practices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38404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FB991"/>
                </a:solidFill>
                <a:latin typeface="Franklin Gothic Book"/>
              </a:defRPr>
            </a:pPr>
            <a:r>
              <a:t>Spark Pipelines  ·  MLflow  ·  Experiment tracking  ·  Reproducibility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0" cy="9144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" y="22860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Franklin Gothic Book"/>
              </a:defRPr>
            </a:pPr>
            <a: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Franklin Gothic Book"/>
              </a:defRPr>
            </a:pPr>
            <a:r>
              <a:t>Automated Spark Pipeline + MLflow Tracking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5486400" cy="4572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35331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Franklin Gothic Book"/>
              </a:defRPr>
            </a:pPr>
            <a:r>
              <a:t>SPARK PIPELINE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783080"/>
            <a:ext cx="54864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1874519"/>
            <a:ext cx="640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CFB991"/>
                </a:solidFill>
                <a:latin typeface="Franklin Gothic Book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920240"/>
            <a:ext cx="4389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C1C1C"/>
                </a:solidFill>
                <a:latin typeface="Franklin Gothic Book"/>
              </a:defRPr>
            </a:pPr>
            <a:r>
              <a:t>StringIndexer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267004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FB991"/>
                </a:solidFill>
                <a:latin typeface="Franklin Gothic Book"/>
              </a:defRPr>
            </a:pPr>
            <a:r>
              <a:t>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2971800"/>
            <a:ext cx="54864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8640" y="3063239"/>
            <a:ext cx="640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CFB991"/>
                </a:solidFill>
                <a:latin typeface="Franklin Gothic Book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108960"/>
            <a:ext cx="4389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C1C1C"/>
                </a:solidFill>
                <a:latin typeface="Franklin Gothic Book"/>
              </a:defRPr>
            </a:pPr>
            <a:r>
              <a:t>OneHotEncoder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85876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FB991"/>
                </a:solidFill>
                <a:latin typeface="Franklin Gothic Book"/>
              </a:defRPr>
            </a:pPr>
            <a:r>
              <a:t>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4160520"/>
            <a:ext cx="54864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4251960"/>
            <a:ext cx="640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CFB991"/>
                </a:solidFill>
                <a:latin typeface="Franklin Gothic Book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297680"/>
            <a:ext cx="4389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C1C1C"/>
                </a:solidFill>
                <a:latin typeface="Franklin Gothic Book"/>
              </a:defRPr>
            </a:pPr>
            <a:r>
              <a:t>VectorAssembler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51760" y="504748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FB991"/>
                </a:solidFill>
                <a:latin typeface="Franklin Gothic Book"/>
              </a:defRPr>
            </a:pPr>
            <a:r>
              <a:t>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5349240"/>
            <a:ext cx="54864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48640" y="5440680"/>
            <a:ext cx="640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CFB991"/>
                </a:solidFill>
                <a:latin typeface="Franklin Gothic Book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5486400"/>
            <a:ext cx="4389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C1C1C"/>
                </a:solidFill>
                <a:latin typeface="Franklin Gothic Book"/>
              </a:defRPr>
            </a:pPr>
            <a:r>
              <a:t>RandomForestClassifier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1280160"/>
            <a:ext cx="5486400" cy="4572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83680" y="135331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Franklin Gothic Book"/>
              </a:defRPr>
            </a:pPr>
            <a:r>
              <a:t>MLFLOW EXPERIMENT TRACKING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1810512"/>
            <a:ext cx="548640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83680" y="1901952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C1C1C"/>
                </a:solidFill>
                <a:latin typeface="Franklin Gothic Book"/>
              </a:defRPr>
            </a:pPr>
            <a:r>
              <a:t>Logistic Regression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90195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C1C1C"/>
                </a:solidFill>
                <a:latin typeface="Franklin Gothic Book"/>
              </a:defRPr>
            </a:pPr>
            <a:r>
              <a:t>AUC 0.6514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1901952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C1C1C"/>
                </a:solidFill>
                <a:latin typeface="Franklin Gothic Book"/>
              </a:defRPr>
            </a:pPr>
            <a:r>
              <a:t>F1 0.7448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3044952"/>
            <a:ext cx="5486400" cy="1097280"/>
          </a:xfrm>
          <a:prstGeom prst="round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583680" y="3136392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C1C1C"/>
                </a:solidFill>
                <a:latin typeface="Franklin Gothic Book"/>
              </a:defRPr>
            </a:pPr>
            <a:r>
              <a:t>Random Forest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313639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C1C1C"/>
                </a:solidFill>
                <a:latin typeface="Franklin Gothic Book"/>
              </a:defRPr>
            </a:pPr>
            <a:r>
              <a:t>AUC 0.6476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89920" y="3136392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C1C1C"/>
                </a:solidFill>
                <a:latin typeface="Franklin Gothic Book"/>
              </a:defRPr>
            </a:pPr>
            <a:r>
              <a:t>F1 0.7444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0" y="4279392"/>
            <a:ext cx="5486400" cy="1097280"/>
          </a:xfrm>
          <a:prstGeom prst="round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583680" y="4370832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C1C1C"/>
                </a:solidFill>
                <a:latin typeface="Franklin Gothic Book"/>
              </a:defRPr>
            </a:pPr>
            <a:r>
              <a:t>Tuned RF  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437083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C1C1C"/>
                </a:solidFill>
                <a:latin typeface="Franklin Gothic Book"/>
              </a:defRPr>
            </a:pPr>
            <a:r>
              <a:t>AUC 0.6525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89920" y="4370832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C1C1C"/>
                </a:solidFill>
                <a:latin typeface="Franklin Gothic Book"/>
              </a:defRPr>
            </a:pPr>
            <a:r>
              <a:t>F1 0.7444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5577840"/>
            <a:ext cx="5486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960"/>
                </a:solidFill>
                <a:latin typeface="Franklin Gothic Book"/>
              </a:defRPr>
            </a:pPr>
            <a:r>
              <a:t>Parameters, metrics, and models logged per run.</a:t>
            </a:r>
          </a:p>
          <a:p>
            <a:pPr algn="l">
              <a:defRPr sz="1400" b="0">
                <a:solidFill>
                  <a:srgbClr val="555960"/>
                </a:solidFill>
                <a:latin typeface="Franklin Gothic Book"/>
              </a:defRPr>
            </a:pPr>
            <a:r>
              <a:t>Accessible via Databricks Experiments sidebar.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FB991"/>
                </a:solidFill>
                <a:latin typeface="Franklin Gothic Book"/>
              </a:defRPr>
            </a:pPr>
            <a:r>
              <a:t>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CFB991"/>
                </a:solidFill>
                <a:latin typeface="Franklin Gothic Book"/>
              </a:defRPr>
            </a:pPr>
            <a:r>
              <a:t>06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1645920"/>
            <a:ext cx="54864" cy="36576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91840" y="182880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Franklin Gothic Book"/>
              </a:defRPr>
            </a:pPr>
            <a:r>
              <a:t>Insights &amp; Business</a:t>
            </a:r>
          </a:p>
          <a:p>
            <a:pPr algn="l">
              <a:defRPr sz="4800" b="1">
                <a:solidFill>
                  <a:srgbClr val="FFFFFF"/>
                </a:solidFill>
                <a:latin typeface="Franklin Gothic Book"/>
              </a:defRPr>
            </a:pPr>
            <a:r>
              <a:t>Recommendations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42976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FB991"/>
                </a:solidFill>
                <a:latin typeface="Franklin Gothic Book"/>
              </a:defRPr>
            </a:pPr>
            <a:r>
              <a:t>Key findings  ·  Actionable recommendations  ·  Future work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0" cy="9144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" y="22860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Franklin Gothic Book"/>
              </a:defRPr>
            </a:pPr>
            <a: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Franklin Gothic Book"/>
              </a:defRPr>
            </a:pPr>
            <a:r>
              <a:t>Key Insights &amp; Business Recommendations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88720"/>
            <a:ext cx="5394960" cy="41148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26187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Franklin Gothic Book"/>
              </a:defRPr>
            </a:pPr>
            <a:r>
              <a:t>KEY INSIGHTS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691640"/>
            <a:ext cx="539496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17830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1C1C"/>
                </a:solidFill>
                <a:latin typeface="Franklin Gothic Book"/>
              </a:defRPr>
            </a:pPr>
            <a:r>
              <a:t>Time of day matters most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19456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960"/>
                </a:solidFill>
                <a:latin typeface="Franklin Gothic Book"/>
              </a:defRPr>
            </a:pPr>
            <a:r>
              <a:t>DEP_HOUR drives 27.7% of predictive power. Evening = risky.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880360"/>
            <a:ext cx="539496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29718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1C1C"/>
                </a:solidFill>
                <a:latin typeface="Franklin Gothic Book"/>
              </a:defRPr>
            </a:pPr>
            <a:r>
              <a:t>Airline matters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38328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960"/>
                </a:solidFill>
                <a:latin typeface="Franklin Gothic Book"/>
              </a:defRPr>
            </a:pPr>
            <a:r>
              <a:t>Some carriers delay significantly more — AIRLINE is 2nd most important feature.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069080"/>
            <a:ext cx="539496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48640" y="41605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1C1C"/>
                </a:solidFill>
                <a:latin typeface="Franklin Gothic Book"/>
              </a:defRPr>
            </a:pPr>
            <a:r>
              <a:t>Seasonal patterns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57200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960"/>
                </a:solidFill>
                <a:latin typeface="Franklin Gothic Book"/>
              </a:defRPr>
            </a:pPr>
            <a:r>
              <a:t>MONTH contributes 5.8% — winter storms and summer demand spikes.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257800"/>
            <a:ext cx="539496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53492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1C1C"/>
                </a:solidFill>
                <a:latin typeface="Franklin Gothic Book"/>
              </a:defRPr>
            </a:pPr>
            <a:r>
              <a:t>Pre-departure ceiling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76072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960"/>
                </a:solidFill>
                <a:latin typeface="Franklin Gothic Book"/>
              </a:defRPr>
            </a:pPr>
            <a:r>
              <a:t>All models top out at ~0.65 AUC — real-time data needed to go higher.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1188720"/>
            <a:ext cx="5486400" cy="41148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83680" y="126187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Franklin Gothic Book"/>
              </a:defRPr>
            </a:pPr>
            <a:r>
              <a:t>RECOMMENDATIONS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1691640"/>
            <a:ext cx="457200" cy="64008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0" y="173736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Franklin Gothic Book"/>
              </a:defRPr>
            </a:pPr>
            <a: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C1C1C"/>
                </a:solidFill>
                <a:latin typeface="Franklin Gothic Book"/>
              </a:defRPr>
            </a:pPr>
            <a:r>
              <a:t>Flag high-risk flights (evening, certain airlines/routes) for proactive alerts to passengers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2697480"/>
            <a:ext cx="457200" cy="64008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0800" y="274320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Franklin Gothic Book"/>
              </a:defRPr>
            </a:pPr>
            <a: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0" y="2724912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C1C1C"/>
                </a:solidFill>
                <a:latin typeface="Franklin Gothic Book"/>
              </a:defRPr>
            </a:pPr>
            <a:r>
              <a:t>Prioritize airport staffing and gates during peak delay hours (4–8pm)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3703320"/>
            <a:ext cx="457200" cy="64008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00800" y="3749039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Franklin Gothic Book"/>
              </a:defRPr>
            </a:pPr>
            <a: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3730752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C1C1C"/>
                </a:solidFill>
                <a:latin typeface="Franklin Gothic Book"/>
              </a:defRPr>
            </a:pPr>
            <a:r>
              <a:t>Integrate real-time weather + air traffic feeds in production to lift AUC beyond 0.65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800600"/>
            <a:ext cx="5486400" cy="36576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583680" y="4864608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Franklin Gothic Book"/>
              </a:defRPr>
            </a:pPr>
            <a:r>
              <a:t>FUTURE WORK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525780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C1C1C"/>
                </a:solidFill>
                <a:latin typeface="Franklin Gothic Book"/>
              </a:defRPr>
            </a:pPr>
            <a:r>
              <a:t>→  Class balancing (SMOTE) for imbalanced dataset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589788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C1C1C"/>
                </a:solidFill>
                <a:latin typeface="Franklin Gothic Book"/>
              </a:defRPr>
            </a:pPr>
            <a:r>
              <a:t>→  Add weather &amp; FAA ATC delay feeds as features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FFFFFF"/>
                </a:solidFill>
                <a:latin typeface="Franklin Gothic Book"/>
              </a:defRPr>
            </a:pPr>
            <a: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>
                <a:solidFill>
                  <a:srgbClr val="CFB991"/>
                </a:solidFill>
                <a:latin typeface="Franklin Gothic Book"/>
              </a:defRPr>
            </a:pPr>
            <a:r>
              <a:t>Questions?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2636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C1C1C"/>
                </a:solidFill>
                <a:latin typeface="Franklin Gothic Book"/>
              </a:defRPr>
            </a:pPr>
            <a:r>
              <a:t>DSCI 590  ·  Big Data Analytics &amp; MLOps  ·  Spring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668</TotalTime>
  <Words>940</Words>
  <Application>Microsoft Macintosh PowerPoint</Application>
  <PresentationFormat>Custom</PresentationFormat>
  <Paragraphs>254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Calibri</vt:lpstr>
      <vt:lpstr>Franklin Gothic Book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Sana Majeed</cp:lastModifiedBy>
  <cp:revision>3</cp:revision>
  <dcterms:created xsi:type="dcterms:W3CDTF">2013-01-27T09:14:16Z</dcterms:created>
  <dcterms:modified xsi:type="dcterms:W3CDTF">2026-03-06T03:47:53Z</dcterms:modified>
  <cp:category/>
</cp:coreProperties>
</file>