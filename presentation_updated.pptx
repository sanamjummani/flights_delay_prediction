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7" r:id="rId11"/>
    <p:sldId id="278" r:id="rId12"/>
    <p:sldId id="279" r:id="rId13"/>
    <p:sldId id="281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461"/>
    <p:restoredTop sz="94666"/>
  </p:normalViewPr>
  <p:slideViewPr>
    <p:cSldViewPr snapToGrid="0" snapToObjects="1">
      <p:cViewPr>
        <p:scale>
          <a:sx n="40" d="100"/>
          <a:sy n="40" d="100"/>
        </p:scale>
        <p:origin x="8" y="17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B991"/>
                </a:solidFill>
                <a:latin typeface="Franklin Gothic Book"/>
              </a:defRPr>
            </a:pPr>
            <a:r>
              <a:rPr lang="en-US" dirty="0"/>
              <a:t>MGMT </a:t>
            </a:r>
            <a:r>
              <a:rPr dirty="0"/>
              <a:t>590  ·  Big Data Analytics &amp; </a:t>
            </a:r>
            <a:r>
              <a:rPr dirty="0" err="1"/>
              <a:t>MLOps</a:t>
            </a:r>
            <a:r>
              <a:rPr dirty="0"/>
              <a:t>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Flight Delay</a:t>
            </a:r>
          </a:p>
          <a:p>
            <a:pPr algn="l">
              <a:defRPr sz="6400" b="1">
                <a:solidFill>
                  <a:srgbClr val="FFFFFF"/>
                </a:solidFill>
                <a:latin typeface="Franklin Gothic Book"/>
              </a:defRPr>
            </a:pPr>
            <a:r>
              <a:rPr dirty="0"/>
              <a:t>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Using Apache Spark · Hive · MLlib on Databricks</a:t>
            </a:r>
          </a:p>
          <a:p>
            <a:pPr algn="l">
              <a:defRPr sz="2200" b="0">
                <a:solidFill>
                  <a:srgbClr val="F5F0E8"/>
                </a:solidFill>
                <a:latin typeface="Franklin Gothic Book"/>
              </a:defRPr>
            </a:pPr>
            <a:r>
              <a:t>US Flights 2019–2023  ·  3 Million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801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Selection &amp; Problem Definition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2608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0175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Exploratory Data Analysis (EDA)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94759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88619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88619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Predictive Modeling with Spark MLlib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6344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4754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7548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C1C1C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532120"/>
            <a:ext cx="548640" cy="64008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6235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2355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Insights &amp; Business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Selection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Problem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Dataset  ·  Business problem  ·  Target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at a Glance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3M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Flight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 ·  2019–2023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280160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46303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2.9M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Modeling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After filtering cancelled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17.6%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DEP_DELAY &gt; 15 min (FAA standard)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79"/>
            <a:ext cx="54864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59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1C1C1C"/>
                </a:solidFill>
                <a:latin typeface="Franklin Gothic Book"/>
              </a:defRPr>
            </a:pPr>
            <a:r>
              <a:t>82.4%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9834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C1C1C"/>
                </a:solidFill>
                <a:latin typeface="Franklin Gothic Book"/>
              </a:defRPr>
            </a:pPr>
            <a:r>
              <a:t>On-Time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486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Within 15 min of scheduled departure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Business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71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Can we predict if a flight will be delayed</a:t>
            </a:r>
          </a:p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before it departs?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6032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651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517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Target: Binary — Delayed (&gt;15 min) vs On-Time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79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1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Use case: Airlines, airports, travelers — proactive planning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120640"/>
            <a:ext cx="640080" cy="82296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521207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Franklin Gothic Book"/>
              </a:defRPr>
            </a:pPr>
            <a:r>
              <a:t>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12079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C1C1C"/>
                </a:solidFill>
                <a:latin typeface="Franklin Gothic Book"/>
              </a:defRPr>
            </a:pPr>
            <a:r>
              <a:t>Challenge: Real-time factors (weather, ATC) drive many delays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Data Ingestion &amp;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Databricks DBFS  ·  Spark  ·  Cleaning  ·  Feature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Data Ingestion &amp; Preprocessing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Upload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flights_sample_3m.csv → Databricks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/Volumes/workspace/default/bigdataproject/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11480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Read with Spark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spark.read.csv(..., header=True, inferSchema=True)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94944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Clean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6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Remove duplicates · Filter cancelled flights · Handle nulls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2004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FB991"/>
                </a:solidFill>
                <a:latin typeface="Franklin Gothic Book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128016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84080" y="1371600"/>
            <a:ext cx="914400" cy="914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0" y="14173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Feature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108960"/>
            <a:ext cx="2011679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2461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MONTH · DAY_OF_WEEK · DEP_HOUR from FL_DATE &amp; CRS_DEP_TIME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Exploratory Data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FB991"/>
                </a:solidFill>
                <a:latin typeface="Franklin Gothic Book"/>
              </a:defRPr>
            </a:pPr>
            <a:r>
              <a:t>Delay breakdown  ·  Airline comparison  ·  Temporal patterns  ·  Visualizations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EDA — Key Findings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17.6%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Delayed Flights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DEP_DELAY &gt; 15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82.4%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On-Time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Within 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Delay 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Carrier · Weather · NAS · Security · Late Aircraft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18872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C1C1C"/>
                </a:solidFill>
                <a:latin typeface="Franklin Gothic Book"/>
              </a:defRPr>
            </a:pPr>
            <a:r>
              <a:t>Evening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Riskiest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7432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960"/>
                </a:solidFill>
                <a:latin typeface="Franklin Gothic Book"/>
              </a:defRPr>
            </a:pPr>
            <a:r>
              <a:t>Cascading delays pile up through the 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2336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40690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069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Delay causes cascade — carrier and late aircraft delays dominate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0060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846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Certain airlines and origin airports show significantly higher delay rates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577840"/>
            <a:ext cx="411480" cy="4114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623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23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Monthly trends: Summer and winter show higher delay rates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EDA — Delay Rate by Departure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Cascade accumulation drives evening risk</a:t>
            </a:r>
          </a:p>
        </p:txBody>
      </p:sp>
      <p:pic>
        <p:nvPicPr>
          <p:cNvPr id="8" name="Picture 7" descr="chart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5–6 AM departures have the lowest delay risk (~14%)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Delay probability rises steadily — exceeding 40% for flights departing after 8 PM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Cascade effect: each delayed inbound flight reduces the probability the next departure leaves on time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DEP_HOUR is the single strongest predictor in the ML model (27.7% feature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EDA — Airline Performance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1C1C1C"/>
                </a:solidFill>
              </a:rPr>
              <a:t>Delay rate vs. average delay severity</a:t>
            </a:r>
          </a:p>
        </p:txBody>
      </p:sp>
      <p:pic>
        <p:nvPicPr>
          <p:cNvPr id="8" name="Picture 7" descr="chart_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JetBlue worst for severity: 54 min avg delay — 26 min worse than Alaska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Southwest highest volume of delays (201,632) — reflects scale, not necessarily poor performance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Alaska best overall: lowest rate (26.1%) and shortest delays (28.3 min)</a:t>
            </a:r>
          </a:p>
          <a:p>
            <a:pPr>
              <a:spcBef>
                <a:spcPts val="600"/>
              </a:spcBef>
            </a:pPr>
            <a:endParaRPr sz="1150" dirty="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 dirty="0">
                <a:solidFill>
                  <a:srgbClr val="1C1C1C"/>
                </a:solidFill>
              </a:rPr>
              <a:t>▸ Spirit elevated delay rate (36%) suggests structural scheduling challenges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EDA — Monthly Delay Rate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Summer and winter peaks bracket a September trough</a:t>
            </a:r>
          </a:p>
        </p:txBody>
      </p:sp>
      <p:pic>
        <p:nvPicPr>
          <p:cNvPr id="8" name="Picture 7" descr="chart_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8046720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417320"/>
            <a:ext cx="3520440" cy="5166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3520440" cy="7315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93392"/>
            <a:ext cx="3246120" cy="36576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2103120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June (39.6%) and July (37.8%) are the riskiest months — summer travel demand + convective weather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December spike (37.5%) driven by winter storms and holiday traffic concentration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September is the safest month at 27.1% — post-summer lull, pre-winter</a:t>
            </a:r>
          </a:p>
          <a:p>
            <a:pPr>
              <a:spcBef>
                <a:spcPts val="6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1C1C1C"/>
                </a:solidFill>
              </a:rPr>
              <a:t>▸ MONTH is the 3rd strongest feature in the RF model (5.8% importance)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" y="22860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C1C1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FFFFFF"/>
                </a:solidFill>
              </a:rPr>
              <a:t>EDA — Flight Volume &amp; Temporal 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32688"/>
            <a:ext cx="8229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1C1C1C"/>
                </a:solidFill>
              </a:rPr>
              <a:t>Seasonal patterns and COVID-19 impact (Fig. 17)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353312"/>
            <a:ext cx="3566160" cy="5257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58200" y="1353312"/>
            <a:ext cx="3566160" cy="64008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1481328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FB991"/>
                </a:solidFill>
              </a:rPr>
              <a:t>KEY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901952"/>
            <a:ext cx="3291840" cy="27432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1993392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COVID-19 caused a 70% traffic collapse (Mar–Apr 2020); full recovery by mid-2022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Seasonal peaks: June (39.6%) and July (37.8%) — summer demand + convective weather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December spike (37.5%) — winter storms + holiday concentration</a:t>
            </a:r>
          </a:p>
          <a:p>
            <a:pPr>
              <a:spcBef>
                <a:spcPts val="500"/>
              </a:spcBef>
            </a:pPr>
            <a:endParaRPr sz="1150">
              <a:solidFill>
                <a:srgbClr val="1C1C1C"/>
              </a:solidFill>
            </a:endParaRP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1C1C1C"/>
                </a:solidFill>
              </a:rPr>
              <a:t>▸ September is the cleanest month at 27.1% — post-summer lull</a:t>
            </a:r>
          </a:p>
        </p:txBody>
      </p:sp>
      <p:pic>
        <p:nvPicPr>
          <p:cNvPr id="15" name="Picture 14" descr="A graph with a line&#10;&#10;AI-generated content may be incorrect.">
            <a:extLst>
              <a:ext uri="{FF2B5EF4-FFF2-40B4-BE49-F238E27FC236}">
                <a16:creationId xmlns:a16="http://schemas.microsoft.com/office/drawing/2014/main" id="{965F3D7F-0838-01AF-CC76-5AA607AD0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160"/>
            <a:ext cx="7735824" cy="2743903"/>
          </a:xfrm>
          <a:prstGeom prst="rect">
            <a:avLst/>
          </a:prstGeom>
        </p:spPr>
      </p:pic>
      <p:pic>
        <p:nvPicPr>
          <p:cNvPr id="16" name="Picture 1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38496FA-8482-1ACD-1EC3-6387D312D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58985"/>
            <a:ext cx="7735824" cy="2669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Predictive Modeling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with Spark MLlib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Classification  ·  Feature engineering  ·  3 models  · 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ML Pipeline — From Raw Data to Predictions</a:t>
            </a:r>
          </a:p>
        </p:txBody>
      </p:sp>
      <p:pic>
        <p:nvPicPr>
          <p:cNvPr id="7" name="Picture 6" descr="flowchart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10361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Features Used for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68580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261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261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647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7647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Encoded via StringIndexer + OHE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50008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ORIGIN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4231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23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Departure airport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08376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08152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Categorical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08152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Arrival airport code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66744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73989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39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of year (1–12)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25112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DAY_OF_WEEK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39826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39826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1=Sunday … 7=Saturday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83479"/>
            <a:ext cx="68580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DEP_HOUR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056631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05663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Scheduled departure hour (0–23)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641848"/>
            <a:ext cx="6858000" cy="6400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DISTANCE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57150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FB991"/>
                </a:solidFill>
                <a:latin typeface="Franklin Gothic Book"/>
              </a:defRPr>
            </a:pPr>
            <a:r>
              <a:t>Numeric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57150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Flight distance in miles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188720"/>
            <a:ext cx="4389120" cy="3200400"/>
          </a:xfrm>
          <a:prstGeom prst="round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B991"/>
                </a:solidFill>
                <a:latin typeface="Franklin Gothic Book"/>
              </a:defRPr>
            </a:pPr>
            <a:r>
              <a:t>TARGET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19202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9260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Franklin Gothic Book"/>
              </a:defRPr>
            </a:pPr>
            <a:r>
              <a:t>DELAYED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3832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0E8"/>
                </a:solidFill>
                <a:latin typeface="Franklin Gothic Book"/>
              </a:defRPr>
            </a:pPr>
            <a:r>
              <a:t>DEP_DELAY &gt;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728346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t>0  = On-Time</a:t>
            </a:r>
          </a:p>
          <a:p>
            <a:pPr algn="l">
              <a:defRPr sz="1600" b="0">
                <a:solidFill>
                  <a:srgbClr val="F5F0E8"/>
                </a:solidFill>
                <a:latin typeface="Franklin Gothic Book"/>
              </a:defRPr>
            </a:pPr>
            <a:r>
              <a:t>1  = Delayed (&gt;15 min)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5720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⚠  No leakage: DEP_DELAY, ARR_DELAY,</a:t>
            </a:r>
          </a:p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   and DELAY_DUE_* not used as features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Feature Importance — What Drives Delays?</a:t>
            </a:r>
          </a:p>
        </p:txBody>
      </p:sp>
      <p:pic>
        <p:nvPicPr>
          <p:cNvPr id="7" name="Picture 6" descr="feature_importan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2976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521440" cy="50292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1261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2618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9" y="12618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19072"/>
            <a:ext cx="11521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0.6514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17830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0.7525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17830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9" y="17830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04872"/>
            <a:ext cx="11521440" cy="658368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4688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0.6476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24688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4688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19" y="2468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90672"/>
            <a:ext cx="11521440" cy="658368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1546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Tuned Random Forest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0.6525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3154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0.6789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154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0.8240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19" y="3154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0.7444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8862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★ Best model: Tuned RF (numTrees=200, maxDepth=15)  ·  ~0.65 AUC reflects the inherent limit of pre-departure features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Model Comparison — AUC · Accuracy · F1 Score</a:t>
            </a:r>
          </a:p>
        </p:txBody>
      </p:sp>
      <p:pic>
        <p:nvPicPr>
          <p:cNvPr id="7" name="Picture 6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8087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~0.65 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Moderate predictive 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3 models perform similarly — pre-departure features have a ceiling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46303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DEP_HOUR 27.7%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Top 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517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Evening flights delay more — cascading effect from earlier flights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82% On-Time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Models tend to predict majority class — class weights would help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9476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3977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C1C"/>
                </a:solidFill>
                <a:latin typeface="Franklin Gothic Book"/>
              </a:defRPr>
            </a:pPr>
            <a:r>
              <a:t>Consistent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Marginal improvement from hyperparameter tuning; more data or features needed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MLOps Practices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840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Spark Pipelines  ·  MLflow  ·  Experiment tracking  ·  Reproducibility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Automated Spark Pipeline + MLflow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SPARK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78308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92024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StringIndexer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700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7180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10896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OneHotEncoder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8587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16052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976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VectorAssembler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50474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349240"/>
            <a:ext cx="54864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4406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FB991"/>
                </a:solidFill>
                <a:latin typeface="Franklin Gothic Book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86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1C1C"/>
                </a:solidFill>
                <a:latin typeface="Franklin Gothic Book"/>
              </a:defRPr>
            </a:pPr>
            <a:r>
              <a:t>RandomForestClassifier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Franklin Gothic Book"/>
              </a:defRPr>
            </a:pPr>
            <a:r>
              <a:t>MLFLOW EXPERIMENT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810512"/>
            <a:ext cx="54864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9019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Logistic Regression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90195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190195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044952"/>
            <a:ext cx="5486400" cy="1097280"/>
          </a:xfrm>
          <a:prstGeom prst="round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313639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Random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13639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31363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279392"/>
            <a:ext cx="5486400" cy="1097280"/>
          </a:xfrm>
          <a:prstGeom prst="round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C1C1C"/>
                </a:solidFill>
                <a:latin typeface="Franklin Gothic Book"/>
              </a:defRPr>
            </a:pPr>
            <a:r>
              <a:t>Tuned RF  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37083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AUC 0.6525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43708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t>F1 0.7444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Parameters, metrics, and models logged per run.</a:t>
            </a:r>
          </a:p>
          <a:p>
            <a:pPr algn="l">
              <a:defRPr sz="1400" b="0">
                <a:solidFill>
                  <a:srgbClr val="555960"/>
                </a:solidFill>
                <a:latin typeface="Franklin Gothic Book"/>
              </a:defRPr>
            </a:pPr>
            <a:r>
              <a:t>Accessible via Databricks Experiments sidebar.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FB991"/>
                </a:solidFill>
                <a:latin typeface="Franklin Gothic Book"/>
              </a:defRPr>
            </a:pPr>
            <a: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CFB991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54864" cy="36576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Insights &amp; Business</a:t>
            </a:r>
          </a:p>
          <a:p>
            <a:pPr algn="l">
              <a:defRPr sz="48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FB991"/>
                </a:solidFill>
                <a:latin typeface="Franklin Gothic Book"/>
              </a:defRPr>
            </a:pPr>
            <a:r>
              <a:t>Key findings  ·  Actionable recommendations  ·  Future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0" cy="9144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" y="228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Franklin Gothic Book"/>
              </a:defRPr>
            </a:pPr>
            <a:r>
              <a:t>Key Insights &amp; Business 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KEY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Time of day matters most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DEP_HOUR drives 27.7% of predictive power. Evening = risky.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Airline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Some carriers delay significantly more — AIRLINE is 2nd most important feature.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Seasonal 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MONTH contributes 5.8% — winter storms and summer demand spikes.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25780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CF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1C1C"/>
                </a:solidFill>
                <a:latin typeface="Franklin Gothic Book"/>
              </a:defRPr>
            </a:pPr>
            <a:r>
              <a:t>Pre-departure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960"/>
                </a:solidFill>
                <a:latin typeface="Franklin Gothic Book"/>
              </a:defRPr>
            </a:pPr>
            <a:r>
              <a:t>All models top out at ~0.65 AUC — real-time data needed to go higher.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188720"/>
            <a:ext cx="5486400" cy="41148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RECOMMENDATIONS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69164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Flag high-risk flights (evening, certain airlines/routes) for proactive alerts to passengers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9748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743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72491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Prioritize airport staffing and gates during peak delay hours (4–8pm)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703320"/>
            <a:ext cx="457200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74903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Franklin Gothic Book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730752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1C1C"/>
                </a:solidFill>
                <a:latin typeface="Franklin Gothic Book"/>
              </a:defRPr>
            </a:pPr>
            <a:r>
              <a:t>Integrate real-time weather + air traffic feeds in production to lift AUC beyond 0.65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00600"/>
            <a:ext cx="5486400" cy="36576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86460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Franklin Gothic Book"/>
              </a:defRPr>
            </a:pPr>
            <a:r>
              <a:t>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2578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Class balancing (SMOTE) for imbalanced dataset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8978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C1C1C"/>
                </a:solidFill>
                <a:latin typeface="Franklin Gothic Book"/>
              </a:defRPr>
            </a:pPr>
            <a:r>
              <a:t>→  Add weather &amp; FAA ATC delay feeds as features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FB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Franklin Gothic Book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CFB991"/>
                </a:solidFill>
                <a:latin typeface="Franklin Gothic Book"/>
              </a:defRPr>
            </a:pPr>
            <a: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C1C"/>
                </a:solidFill>
                <a:latin typeface="Franklin Gothic Book"/>
              </a:defRPr>
            </a:pPr>
            <a:r>
              <a:rPr lang="en-US" dirty="0"/>
              <a:t>MGMT</a:t>
            </a:r>
            <a:r>
              <a:rPr dirty="0"/>
              <a:t> 590  ·  Big Data Analytics &amp; </a:t>
            </a:r>
            <a:r>
              <a:rPr dirty="0" err="1"/>
              <a:t>MLOps</a:t>
            </a:r>
            <a:r>
              <a:rPr dirty="0"/>
              <a:t>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1199</Words>
  <Application>Microsoft Macintosh PowerPoint</Application>
  <PresentationFormat>Custom</PresentationFormat>
  <Paragraphs>286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Deniz Nemli</cp:lastModifiedBy>
  <cp:revision>2</cp:revision>
  <dcterms:created xsi:type="dcterms:W3CDTF">2013-01-27T09:14:16Z</dcterms:created>
  <dcterms:modified xsi:type="dcterms:W3CDTF">2026-03-05T22:44:47Z</dcterms:modified>
  <cp:category/>
</cp:coreProperties>
</file>