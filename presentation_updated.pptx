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82" r:id="rId10"/>
    <p:sldId id="277" r:id="rId11"/>
    <p:sldId id="278" r:id="rId12"/>
    <p:sldId id="279" r:id="rId13"/>
    <p:sldId id="281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458"/>
    <p:restoredTop sz="94681"/>
  </p:normalViewPr>
  <p:slideViewPr>
    <p:cSldViewPr snapToGrid="0" snapToObjects="1">
      <p:cViewPr varScale="1">
        <p:scale>
          <a:sx n="101" d="100"/>
          <a:sy n="101" d="100"/>
        </p:scale>
        <p:origin x="208" y="5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FB991"/>
                </a:solidFill>
                <a:latin typeface="Franklin Gothic Book"/>
              </a:defRPr>
            </a:pPr>
            <a:r>
              <a:rPr lang="en-US" dirty="0"/>
              <a:t>MGMT </a:t>
            </a:r>
            <a:r>
              <a:rPr dirty="0"/>
              <a:t>590  ·  Big Data Analytics &amp; </a:t>
            </a:r>
            <a:r>
              <a:rPr dirty="0" err="1"/>
              <a:t>MLOps</a:t>
            </a:r>
            <a:r>
              <a:rPr dirty="0"/>
              <a:t>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FFFFFF"/>
                </a:solidFill>
                <a:latin typeface="Franklin Gothic Book"/>
              </a:defRPr>
            </a:pPr>
            <a:r>
              <a:rPr dirty="0"/>
              <a:t>Flight Delay</a:t>
            </a:r>
          </a:p>
          <a:p>
            <a:pPr algn="l">
              <a:defRPr sz="6400" b="1">
                <a:solidFill>
                  <a:srgbClr val="FFFFFF"/>
                </a:solidFill>
                <a:latin typeface="Franklin Gothic Book"/>
              </a:defRPr>
            </a:pPr>
            <a:r>
              <a:rPr dirty="0"/>
              <a:t>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5F0E8"/>
                </a:solidFill>
                <a:latin typeface="Franklin Gothic Book"/>
              </a:defRPr>
            </a:pPr>
            <a:r>
              <a:t>Using Apache Spark · Hive · MLlib on Databricks</a:t>
            </a:r>
          </a:p>
          <a:p>
            <a:pPr algn="l">
              <a:defRPr sz="2200" b="0">
                <a:solidFill>
                  <a:srgbClr val="F5F0E8"/>
                </a:solidFill>
                <a:latin typeface="Franklin Gothic Book"/>
              </a:defRPr>
            </a:pPr>
            <a:r>
              <a:t>US Flights 2019–2023  ·  3 Million Records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88720"/>
            <a:ext cx="548640" cy="64008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280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FB991"/>
                </a:solidFill>
                <a:latin typeface="Franklin Gothic Book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2801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Data Selection &amp; Problem Definition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057400"/>
            <a:ext cx="548640" cy="64008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1488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FB991"/>
                </a:solidFill>
                <a:latin typeface="Franklin Gothic Book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1488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Data Ingestion &amp; Preprocessing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926080"/>
            <a:ext cx="548640" cy="64008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FB991"/>
                </a:solidFill>
                <a:latin typeface="Franklin Gothic Book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0175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Exploratory Data Analysis (EDA)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794759"/>
            <a:ext cx="548640" cy="64008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388619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FB991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886199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C1C1C"/>
                </a:solidFill>
                <a:latin typeface="Franklin Gothic Book"/>
              </a:defRPr>
            </a:pPr>
            <a:r>
              <a:t>Predictive Modeling with Spark MLlib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663440"/>
            <a:ext cx="548640" cy="64008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475487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FB991"/>
                </a:solidFill>
                <a:latin typeface="Franklin Gothic Book"/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754879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C1C1C"/>
                </a:solidFill>
                <a:latin typeface="Franklin Gothic Book"/>
              </a:defRPr>
            </a:pPr>
            <a:r>
              <a:t>MLOps Practices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532120"/>
            <a:ext cx="548640" cy="64008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562355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FB991"/>
                </a:solidFill>
                <a:latin typeface="Franklin Gothic Book"/>
              </a:defRPr>
            </a:pPr>
            <a: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23559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Insights &amp; Business Recommendations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CFB991"/>
                </a:solidFill>
                <a:latin typeface="Franklin Gothic Book"/>
              </a:defRPr>
            </a:pPr>
            <a: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54864" cy="36576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1828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Data Selection &amp;</a:t>
            </a:r>
          </a:p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Problem 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42976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FB991"/>
                </a:solidFill>
                <a:latin typeface="Franklin Gothic Book"/>
              </a:defRPr>
            </a:pPr>
            <a:r>
              <a:t>Dataset  ·  Business problem  ·  Target variable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Data at a Glance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463039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1C1C1C"/>
                </a:solidFill>
                <a:latin typeface="Franklin Gothic Book"/>
              </a:defRPr>
            </a:pPr>
            <a:r>
              <a:t>3M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C1C1C"/>
                </a:solidFill>
                <a:latin typeface="Franklin Gothic Book"/>
              </a:defRPr>
            </a:pPr>
            <a:r>
              <a:t>Flight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26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flights_sample_3m.csv  ·  2019–2023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280160"/>
            <a:ext cx="54864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463039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1C1C1C"/>
                </a:solidFill>
                <a:latin typeface="Franklin Gothic Book"/>
              </a:defRPr>
            </a:pPr>
            <a:r>
              <a:t>2.9M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423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C1C1C"/>
                </a:solidFill>
                <a:latin typeface="Franklin Gothic Book"/>
              </a:defRPr>
            </a:pPr>
            <a:r>
              <a:t>Modeling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926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After filtering cancelled flights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54864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4023359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1C1C1C"/>
                </a:solidFill>
                <a:latin typeface="Franklin Gothic Book"/>
              </a:defRPr>
            </a:pPr>
            <a:r>
              <a:t>17.6%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8347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C1C1C"/>
                </a:solidFill>
                <a:latin typeface="Franklin Gothic Book"/>
              </a:defRPr>
            </a:pPr>
            <a:r>
              <a:t>Delayed Flights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48639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DEP_DELAY &gt; 15 min (FAA standard)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840479"/>
            <a:ext cx="54864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5120" y="4023359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1C1C1C"/>
                </a:solidFill>
                <a:latin typeface="Franklin Gothic Book"/>
              </a:defRPr>
            </a:pPr>
            <a:r>
              <a:t>82.4%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98347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C1C1C"/>
                </a:solidFill>
                <a:latin typeface="Franklin Gothic Book"/>
              </a:defRPr>
            </a:pPr>
            <a:r>
              <a:t>On-Time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48639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Within 15 min of scheduled departure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Business Problem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640080" cy="82296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3716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Franklin Gothic Book"/>
              </a:defRPr>
            </a:pPr>
            <a:r>
              <a:t>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3716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Can we predict if a flight will be delayed</a:t>
            </a:r>
          </a:p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before it departs?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60320"/>
            <a:ext cx="640080" cy="82296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6517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Franklin Gothic Book"/>
              </a:defRPr>
            </a:pPr>
            <a:r>
              <a:t>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6517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Target: Binary — Delayed (&gt;15 min) vs On-Time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840479"/>
            <a:ext cx="640080" cy="82296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3931919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Franklin Gothic Book"/>
              </a:defRPr>
            </a:pPr>
            <a:r>
              <a:t>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931919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Use case: Airlines, airports, travelers — proactive planning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120640"/>
            <a:ext cx="640080" cy="82296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5212079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Franklin Gothic Book"/>
              </a:defRPr>
            </a:pPr>
            <a:r>
              <a:t>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212079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Challenge: Real-time factors (weather, ATC) drive many delays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CFB991"/>
                </a:solidFill>
                <a:latin typeface="Franklin Gothic Book"/>
              </a:defRPr>
            </a:pPr>
            <a: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54864" cy="36576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1828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Data Ingestion &amp;</a:t>
            </a:r>
          </a:p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Preprocessing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42976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FB991"/>
                </a:solidFill>
                <a:latin typeface="Franklin Gothic Book"/>
              </a:defRPr>
            </a:pPr>
            <a:r>
              <a:t>Databricks DBFS  ·  Spark  ·  Cleaning  ·  Feature engineering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Data Ingestion &amp; Preprocessing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280160" y="1371600"/>
            <a:ext cx="914400" cy="91440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1417320"/>
            <a:ext cx="914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FB991"/>
                </a:solidFill>
                <a:latin typeface="Franklin Gothic Book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23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Upload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08960"/>
            <a:ext cx="2011679" cy="36576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flights_sample_3m.csv → Databricks</a:t>
            </a:r>
          </a:p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/Volumes/workspace/default/bigdataproject/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2004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FB991"/>
                </a:solidFill>
                <a:latin typeface="Franklin Gothic Book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28016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114800" y="1371600"/>
            <a:ext cx="914400" cy="91440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800" y="1417320"/>
            <a:ext cx="914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FB991"/>
                </a:solidFill>
                <a:latin typeface="Franklin Gothic Book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423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Read with Spark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66160" y="3108960"/>
            <a:ext cx="2011679" cy="36576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74720" y="324612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spark.read.csv(..., header=True, inferSchema=True)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2004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FB991"/>
                </a:solidFill>
                <a:latin typeface="Franklin Gothic Book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128016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949440" y="1371600"/>
            <a:ext cx="914400" cy="91440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949440" y="1417320"/>
            <a:ext cx="914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FB991"/>
                </a:solidFill>
                <a:latin typeface="Franklin Gothic Book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423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Clean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108960"/>
            <a:ext cx="2011679" cy="36576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09360" y="324612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Remove duplicates · Filter cancelled flights · Handle nulls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32004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FB991"/>
                </a:solidFill>
                <a:latin typeface="Franklin Gothic Book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20" y="128016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784080" y="1371600"/>
            <a:ext cx="914400" cy="91440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84080" y="1417320"/>
            <a:ext cx="914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FB991"/>
                </a:solidFill>
                <a:latin typeface="Franklin Gothic Book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2423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Feature Engineering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35440" y="3108960"/>
            <a:ext cx="2011679" cy="36576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0" y="324612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MONTH · DAY_OF_WEEK · DEP_HOUR from FL_DATE &amp; CRS_DEP_TIME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CFB991"/>
                </a:solidFill>
                <a:latin typeface="Franklin Gothic Book"/>
              </a:defRPr>
            </a:pPr>
            <a: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54864" cy="36576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1828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Exploratory Data</a:t>
            </a:r>
          </a:p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42976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FB991"/>
                </a:solidFill>
                <a:latin typeface="Franklin Gothic Book"/>
              </a:defRPr>
            </a:pPr>
            <a:r>
              <a:t>Delay breakdown  ·  Airline comparison  ·  Temporal patterns  ·  Visualizations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rPr lang="en-US" dirty="0"/>
              <a:t>Delay Frequency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274320" y="1188720"/>
            <a:ext cx="274320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246888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C1C1C"/>
                </a:solidFill>
                <a:latin typeface="Franklin Gothic Book"/>
              </a:defRPr>
            </a:pPr>
            <a:r>
              <a:rPr lang="en-US" dirty="0"/>
              <a:t>33.1</a:t>
            </a:r>
            <a:r>
              <a:rPr dirty="0"/>
              <a:t>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Delayed Flights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2468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960"/>
                </a:solidFill>
                <a:latin typeface="Franklin Gothic Book"/>
              </a:defRPr>
            </a:pPr>
            <a:r>
              <a:rPr lang="en-US" dirty="0"/>
              <a:t>ARR</a:t>
            </a:r>
            <a:r>
              <a:rPr dirty="0"/>
              <a:t>_DELAY </a:t>
            </a:r>
            <a:r>
              <a:t>&gt; </a:t>
            </a:r>
            <a:r>
              <a:rPr lang="en-US"/>
              <a:t>0</a:t>
            </a:r>
            <a:r>
              <a:t> </a:t>
            </a:r>
            <a:r>
              <a:rPr dirty="0"/>
              <a:t>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188720"/>
            <a:ext cx="274320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1371600"/>
            <a:ext cx="246888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C1C1C"/>
                </a:solidFill>
                <a:latin typeface="Franklin Gothic Book"/>
              </a:defRPr>
            </a:pPr>
            <a:r>
              <a:rPr lang="en-US" dirty="0"/>
              <a:t>72.5</a:t>
            </a:r>
            <a:r>
              <a:rPr dirty="0"/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331720"/>
            <a:ext cx="24688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rPr lang="en-US" dirty="0"/>
              <a:t>Arrival Delays also had a Departure Delay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3383280" y="2916495"/>
            <a:ext cx="2468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960"/>
                </a:solidFill>
                <a:latin typeface="Franklin Gothic Book"/>
              </a:defRPr>
            </a:pPr>
            <a:r>
              <a:rPr lang="en-US" dirty="0"/>
              <a:t>Confirms cascading delay effect in airline operations. </a:t>
            </a:r>
            <a:endParaRPr dirty="0"/>
          </a:p>
        </p:txBody>
      </p:sp>
      <p:sp>
        <p:nvSpPr>
          <p:cNvPr id="15" name="Rounded Rectangle 14"/>
          <p:cNvSpPr/>
          <p:nvPr/>
        </p:nvSpPr>
        <p:spPr>
          <a:xfrm>
            <a:off x="6126480" y="1188720"/>
            <a:ext cx="274320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13716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C1C1C"/>
                </a:solidFill>
                <a:latin typeface="Franklin Gothic Book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317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Delay Causes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74320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960"/>
                </a:solidFill>
                <a:latin typeface="Franklin Gothic Book"/>
              </a:defRPr>
            </a:pPr>
            <a:r>
              <a:t>Carrier · Weather · NAS · Security · Late Aircraft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1188720"/>
            <a:ext cx="274320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35440" y="13716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C1C1C"/>
                </a:solidFill>
                <a:latin typeface="Franklin Gothic Book"/>
              </a:defRPr>
            </a:pPr>
            <a:r>
              <a:t>Evening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331720"/>
            <a:ext cx="2468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rPr dirty="0"/>
              <a:t>Riskiest</a:t>
            </a:r>
            <a:r>
              <a:rPr lang="en-US" dirty="0"/>
              <a:t>- 40% delay rate</a:t>
            </a:r>
            <a:endParaRPr dirty="0"/>
          </a:p>
        </p:txBody>
      </p:sp>
      <p:sp>
        <p:nvSpPr>
          <p:cNvPr id="22" name="TextBox 21"/>
          <p:cNvSpPr txBox="1"/>
          <p:nvPr/>
        </p:nvSpPr>
        <p:spPr>
          <a:xfrm>
            <a:off x="9235440" y="274320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960"/>
                </a:solidFill>
                <a:latin typeface="Franklin Gothic Book"/>
              </a:defRPr>
            </a:pPr>
            <a:r>
              <a:rPr dirty="0"/>
              <a:t>Cascading delays pile up through the day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023360"/>
            <a:ext cx="411480" cy="411480"/>
          </a:xfrm>
          <a:prstGeom prst="round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40690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069080"/>
            <a:ext cx="46052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rPr dirty="0"/>
              <a:t>Delay causes cascade — carrier and late aircraft delays dominate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800600"/>
            <a:ext cx="411480" cy="411480"/>
          </a:xfrm>
          <a:prstGeom prst="round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48463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846320"/>
            <a:ext cx="40566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rPr dirty="0"/>
              <a:t>Certain airlines and origin airports show significantly higher delay rates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5577840"/>
            <a:ext cx="411480" cy="411480"/>
          </a:xfrm>
          <a:prstGeom prst="round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5760" y="5623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23560"/>
            <a:ext cx="40566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rPr dirty="0"/>
              <a:t>Monthly trends: Summer and winter show higher delay rates</a:t>
            </a:r>
          </a:p>
        </p:txBody>
      </p:sp>
      <p:pic>
        <p:nvPicPr>
          <p:cNvPr id="33" name="Picture 32" descr="A graph of blue bars&#10;&#10;AI-generated content may be incorrect.">
            <a:extLst>
              <a:ext uri="{FF2B5EF4-FFF2-40B4-BE49-F238E27FC236}">
                <a16:creationId xmlns:a16="http://schemas.microsoft.com/office/drawing/2014/main" id="{DC24EF81-4445-DA92-6E28-E03FB486F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586" y="4023360"/>
            <a:ext cx="6852054" cy="252847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C1C1C"/>
                </a:solidFill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EDA — Delay Rate by Departure Hour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1C1C1C"/>
                </a:solidFill>
              </a:rPr>
              <a:t>Cascade accumulation drives evening risk</a:t>
            </a:r>
          </a:p>
        </p:txBody>
      </p:sp>
      <p:pic>
        <p:nvPicPr>
          <p:cNvPr id="8" name="Picture 7" descr="chart_h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17320"/>
            <a:ext cx="8046720" cy="37490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58200" y="1417320"/>
            <a:ext cx="3520440" cy="5166360"/>
          </a:xfrm>
          <a:prstGeom prst="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58200" y="1417320"/>
            <a:ext cx="3520440" cy="73152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0" y="1554480"/>
            <a:ext cx="3246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FB991"/>
                </a:solidFill>
              </a:rPr>
              <a:t>KEY INSIGHTS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1993392"/>
            <a:ext cx="3246120" cy="36576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49640" y="2103120"/>
            <a:ext cx="3337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50" dirty="0">
                <a:solidFill>
                  <a:srgbClr val="1C1C1C"/>
                </a:solidFill>
              </a:rPr>
              <a:t>▸ 5–6 AM departures have the lowest delay risk (~14%)</a:t>
            </a:r>
          </a:p>
          <a:p>
            <a:pPr>
              <a:spcBef>
                <a:spcPts val="600"/>
              </a:spcBef>
            </a:pPr>
            <a:endParaRPr sz="1150" dirty="0">
              <a:solidFill>
                <a:srgbClr val="1C1C1C"/>
              </a:solidFill>
            </a:endParaRPr>
          </a:p>
          <a:p>
            <a:pPr>
              <a:spcBef>
                <a:spcPts val="600"/>
              </a:spcBef>
            </a:pPr>
            <a:r>
              <a:rPr sz="1150" dirty="0">
                <a:solidFill>
                  <a:srgbClr val="1C1C1C"/>
                </a:solidFill>
              </a:rPr>
              <a:t>▸ Delay probability rises steadily — exceeding 40% for flights departing after 8 PM</a:t>
            </a:r>
          </a:p>
          <a:p>
            <a:pPr>
              <a:spcBef>
                <a:spcPts val="600"/>
              </a:spcBef>
            </a:pPr>
            <a:endParaRPr sz="1150" dirty="0">
              <a:solidFill>
                <a:srgbClr val="1C1C1C"/>
              </a:solidFill>
            </a:endParaRPr>
          </a:p>
          <a:p>
            <a:pPr>
              <a:spcBef>
                <a:spcPts val="600"/>
              </a:spcBef>
            </a:pPr>
            <a:r>
              <a:rPr sz="1150" dirty="0">
                <a:solidFill>
                  <a:srgbClr val="1C1C1C"/>
                </a:solidFill>
              </a:rPr>
              <a:t>▸ Cascade effect: each delayed inbound flight reduces the probability the next departure leaves on time</a:t>
            </a:r>
          </a:p>
          <a:p>
            <a:pPr>
              <a:spcBef>
                <a:spcPts val="600"/>
              </a:spcBef>
            </a:pPr>
            <a:endParaRPr sz="1150" dirty="0">
              <a:solidFill>
                <a:srgbClr val="1C1C1C"/>
              </a:solidFill>
            </a:endParaRPr>
          </a:p>
          <a:p>
            <a:pPr>
              <a:spcBef>
                <a:spcPts val="600"/>
              </a:spcBef>
            </a:pPr>
            <a:r>
              <a:rPr sz="1150" dirty="0">
                <a:solidFill>
                  <a:srgbClr val="1C1C1C"/>
                </a:solidFill>
              </a:rPr>
              <a:t>▸ DEP_HOUR is the single strongest predictor in the ML model (27.7% feature importance)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C1C1C"/>
                </a:solidFill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EDA — Airline Performance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dirty="0">
                <a:solidFill>
                  <a:srgbClr val="1C1C1C"/>
                </a:solidFill>
              </a:rPr>
              <a:t>Delay rate vs. average delay severity</a:t>
            </a:r>
          </a:p>
        </p:txBody>
      </p:sp>
      <p:pic>
        <p:nvPicPr>
          <p:cNvPr id="8" name="Picture 7" descr="chart_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17320"/>
            <a:ext cx="8046720" cy="37490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58200" y="1417320"/>
            <a:ext cx="3520440" cy="5166360"/>
          </a:xfrm>
          <a:prstGeom prst="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58200" y="1417320"/>
            <a:ext cx="3520440" cy="73152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0" y="1554480"/>
            <a:ext cx="3246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FB991"/>
                </a:solidFill>
              </a:rPr>
              <a:t>KEY INSIGHTS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1993392"/>
            <a:ext cx="3246120" cy="36576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49640" y="2103120"/>
            <a:ext cx="3337560" cy="250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50" dirty="0">
                <a:solidFill>
                  <a:srgbClr val="1C1C1C"/>
                </a:solidFill>
              </a:rPr>
              <a:t>▸ JetBlue worst for severity: 54 min avg delay — 26 min worse than Alaska</a:t>
            </a:r>
          </a:p>
          <a:p>
            <a:pPr>
              <a:spcBef>
                <a:spcPts val="600"/>
              </a:spcBef>
            </a:pPr>
            <a:endParaRPr sz="1150" dirty="0">
              <a:solidFill>
                <a:srgbClr val="1C1C1C"/>
              </a:solidFill>
            </a:endParaRPr>
          </a:p>
          <a:p>
            <a:pPr>
              <a:spcBef>
                <a:spcPts val="600"/>
              </a:spcBef>
            </a:pPr>
            <a:r>
              <a:rPr sz="1150" dirty="0">
                <a:solidFill>
                  <a:srgbClr val="1C1C1C"/>
                </a:solidFill>
              </a:rPr>
              <a:t>▸ Southwest highest volume of delays (201,632) — reflects scale, not necessarily poor performance</a:t>
            </a:r>
          </a:p>
          <a:p>
            <a:pPr>
              <a:spcBef>
                <a:spcPts val="600"/>
              </a:spcBef>
            </a:pPr>
            <a:endParaRPr sz="1150" dirty="0">
              <a:solidFill>
                <a:srgbClr val="1C1C1C"/>
              </a:solidFill>
            </a:endParaRPr>
          </a:p>
          <a:p>
            <a:pPr>
              <a:spcBef>
                <a:spcPts val="600"/>
              </a:spcBef>
            </a:pPr>
            <a:r>
              <a:rPr sz="1150" dirty="0">
                <a:solidFill>
                  <a:srgbClr val="1C1C1C"/>
                </a:solidFill>
              </a:rPr>
              <a:t>▸ Alaska best overall: lowest rate (26.1%) and shortest delays (28.3 min)</a:t>
            </a:r>
          </a:p>
          <a:p>
            <a:pPr>
              <a:spcBef>
                <a:spcPts val="600"/>
              </a:spcBef>
            </a:pPr>
            <a:endParaRPr sz="1150" dirty="0">
              <a:solidFill>
                <a:srgbClr val="1C1C1C"/>
              </a:solidFill>
            </a:endParaRPr>
          </a:p>
          <a:p>
            <a:pPr>
              <a:spcBef>
                <a:spcPts val="600"/>
              </a:spcBef>
            </a:pPr>
            <a:r>
              <a:rPr sz="1150" dirty="0">
                <a:solidFill>
                  <a:srgbClr val="1C1C1C"/>
                </a:solidFill>
              </a:rPr>
              <a:t>▸ Spirit elevated delay rate (36%) suggests structural scheduling challenges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C1C1C"/>
                </a:solidFill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dirty="0">
                <a:solidFill>
                  <a:srgbClr val="FFFFFF"/>
                </a:solidFill>
              </a:rPr>
              <a:t>EDA — Monthly Delay Rate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1C1C1C"/>
                </a:solidFill>
              </a:rPr>
              <a:t>Summer and winter peaks bracket a September trough</a:t>
            </a:r>
          </a:p>
        </p:txBody>
      </p:sp>
      <p:pic>
        <p:nvPicPr>
          <p:cNvPr id="8" name="Picture 7" descr="chart_month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17320"/>
            <a:ext cx="8046720" cy="37490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58200" y="1417320"/>
            <a:ext cx="3520440" cy="5166360"/>
          </a:xfrm>
          <a:prstGeom prst="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58200" y="1417320"/>
            <a:ext cx="3520440" cy="73152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0" y="1554480"/>
            <a:ext cx="3246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FB991"/>
                </a:solidFill>
              </a:rPr>
              <a:t>KEY INSIGHTS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1993392"/>
            <a:ext cx="3246120" cy="36576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49640" y="2103120"/>
            <a:ext cx="3337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50">
                <a:solidFill>
                  <a:srgbClr val="1C1C1C"/>
                </a:solidFill>
              </a:rPr>
              <a:t>▸ June (39.6%) and July (37.8%) are the riskiest months — summer travel demand + convective weather</a:t>
            </a:r>
          </a:p>
          <a:p>
            <a:pPr>
              <a:spcBef>
                <a:spcPts val="600"/>
              </a:spcBef>
            </a:pPr>
            <a:endParaRPr sz="1150">
              <a:solidFill>
                <a:srgbClr val="1C1C1C"/>
              </a:solidFill>
            </a:endParaRP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1C1C1C"/>
                </a:solidFill>
              </a:rPr>
              <a:t>▸ December spike (37.5%) driven by winter storms and holiday traffic concentration</a:t>
            </a:r>
          </a:p>
          <a:p>
            <a:pPr>
              <a:spcBef>
                <a:spcPts val="600"/>
              </a:spcBef>
            </a:pPr>
            <a:endParaRPr sz="1150">
              <a:solidFill>
                <a:srgbClr val="1C1C1C"/>
              </a:solidFill>
            </a:endParaRP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1C1C1C"/>
                </a:solidFill>
              </a:rPr>
              <a:t>▸ September is the safest month at 27.1% — post-summer lull, pre-winter</a:t>
            </a:r>
          </a:p>
          <a:p>
            <a:pPr>
              <a:spcBef>
                <a:spcPts val="600"/>
              </a:spcBef>
            </a:pPr>
            <a:endParaRPr sz="1150">
              <a:solidFill>
                <a:srgbClr val="1C1C1C"/>
              </a:solidFill>
            </a:endParaRP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1C1C1C"/>
                </a:solidFill>
              </a:rPr>
              <a:t>▸ MONTH is the 3rd strongest feature in the RF model (5.8% importance)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" y="22860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dirty="0">
                <a:solidFill>
                  <a:srgbClr val="1C1C1C"/>
                </a:solidFill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>
                <a:solidFill>
                  <a:srgbClr val="FFFFFF"/>
                </a:solidFill>
              </a:rPr>
              <a:t>EDA — Flight Volume &amp; Temporal Trends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932688"/>
            <a:ext cx="8229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1C1C1C"/>
                </a:solidFill>
              </a:rPr>
              <a:t>Seasonal patterns and COVID-19 impact (Fig. 17)</a:t>
            </a:r>
          </a:p>
        </p:txBody>
      </p:sp>
      <p:sp>
        <p:nvSpPr>
          <p:cNvPr id="9" name="Rectangle 8"/>
          <p:cNvSpPr/>
          <p:nvPr/>
        </p:nvSpPr>
        <p:spPr>
          <a:xfrm>
            <a:off x="8458200" y="1353312"/>
            <a:ext cx="3566160" cy="5257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58200" y="1353312"/>
            <a:ext cx="3566160" cy="64008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0" y="1481328"/>
            <a:ext cx="3291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CFB991"/>
                </a:solidFill>
              </a:rPr>
              <a:t>KEY INSIGHTS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1901952"/>
            <a:ext cx="3291840" cy="27432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49640" y="1993392"/>
            <a:ext cx="3383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150">
                <a:solidFill>
                  <a:srgbClr val="1C1C1C"/>
                </a:solidFill>
              </a:rPr>
              <a:t>▸ COVID-19 caused a 70% traffic collapse (Mar–Apr 2020); full recovery by mid-2022</a:t>
            </a:r>
          </a:p>
          <a:p>
            <a:pPr>
              <a:spcBef>
                <a:spcPts val="500"/>
              </a:spcBef>
            </a:pPr>
            <a:endParaRPr sz="1150">
              <a:solidFill>
                <a:srgbClr val="1C1C1C"/>
              </a:solidFill>
            </a:endParaRP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1C1C1C"/>
                </a:solidFill>
              </a:rPr>
              <a:t>▸ Seasonal peaks: June (39.6%) and July (37.8%) — summer demand + convective weather</a:t>
            </a:r>
          </a:p>
          <a:p>
            <a:pPr>
              <a:spcBef>
                <a:spcPts val="500"/>
              </a:spcBef>
            </a:pPr>
            <a:endParaRPr sz="1150">
              <a:solidFill>
                <a:srgbClr val="1C1C1C"/>
              </a:solidFill>
            </a:endParaRP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1C1C1C"/>
                </a:solidFill>
              </a:rPr>
              <a:t>▸ December spike (37.5%) — winter storms + holiday concentration</a:t>
            </a:r>
          </a:p>
          <a:p>
            <a:pPr>
              <a:spcBef>
                <a:spcPts val="500"/>
              </a:spcBef>
            </a:pPr>
            <a:endParaRPr sz="1150">
              <a:solidFill>
                <a:srgbClr val="1C1C1C"/>
              </a:solidFill>
            </a:endParaRP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1C1C1C"/>
                </a:solidFill>
              </a:rPr>
              <a:t>▸ September is the cleanest month at 27.1% — post-summer lull</a:t>
            </a:r>
          </a:p>
        </p:txBody>
      </p:sp>
      <p:pic>
        <p:nvPicPr>
          <p:cNvPr id="15" name="Picture 14" descr="A graph with a line&#10;&#10;AI-generated content may be incorrect.">
            <a:extLst>
              <a:ext uri="{FF2B5EF4-FFF2-40B4-BE49-F238E27FC236}">
                <a16:creationId xmlns:a16="http://schemas.microsoft.com/office/drawing/2014/main" id="{965F3D7F-0838-01AF-CC76-5AA607AD0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80160"/>
            <a:ext cx="7735824" cy="2743903"/>
          </a:xfrm>
          <a:prstGeom prst="rect">
            <a:avLst/>
          </a:prstGeom>
        </p:spPr>
      </p:pic>
      <p:pic>
        <p:nvPicPr>
          <p:cNvPr id="16" name="Picture 1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138496FA-8482-1ACD-1EC3-6387D312D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058985"/>
            <a:ext cx="7735824" cy="2669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CFB991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54864" cy="36576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1828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Predictive Modeling</a:t>
            </a:r>
          </a:p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with Spark MLlib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42976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FB991"/>
                </a:solidFill>
                <a:latin typeface="Franklin Gothic Book"/>
              </a:defRPr>
            </a:pPr>
            <a:r>
              <a:t>Classification  ·  Feature engineering  ·  3 models  ·  Evaluation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ML Pipeline — From Raw Data to Predictions</a:t>
            </a:r>
          </a:p>
        </p:txBody>
      </p:sp>
      <p:pic>
        <p:nvPicPr>
          <p:cNvPr id="7" name="Picture 6" descr="flowchart_m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410361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Features Used for Prediction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6858000" cy="4572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2618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Franklin Gothic Book"/>
              </a:defRPr>
            </a:pPr>
            <a:r>
              <a:t>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2618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Franklin Gothic Book"/>
              </a:defRPr>
            </a:pPr>
            <a:r>
              <a:t>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2618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Franklin Gothic Book"/>
              </a:defRPr>
            </a:pPr>
            <a:r>
              <a:t>DESCRIPTION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91640"/>
            <a:ext cx="6858000" cy="64008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17647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AIRLINE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176479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B991"/>
                </a:solidFill>
                <a:latin typeface="Franklin Gothic Book"/>
              </a:defRPr>
            </a:pPr>
            <a:r>
              <a:t>Categorical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7647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Encoded via StringIndexer + OHE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350008"/>
            <a:ext cx="68580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24231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ORIGIN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242316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B991"/>
                </a:solidFill>
                <a:latin typeface="Franklin Gothic Book"/>
              </a:defRPr>
            </a:pPr>
            <a:r>
              <a:t>Categorical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4231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Departure airport code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008376"/>
            <a:ext cx="6858000" cy="64008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308152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DEST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308152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B991"/>
                </a:solidFill>
                <a:latin typeface="Franklin Gothic Book"/>
              </a:defRPr>
            </a:pPr>
            <a:r>
              <a:t>Categorical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08152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Arrival airport code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666744"/>
            <a:ext cx="68580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3739896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3739896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B991"/>
                </a:solidFill>
                <a:latin typeface="Franklin Gothic Book"/>
              </a:defRPr>
            </a:pPr>
            <a:r>
              <a:t>Numeric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3739896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Month of year (1–12)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325112"/>
            <a:ext cx="6858000" cy="64008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439826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DAY_OF_WEEK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4398264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B991"/>
                </a:solidFill>
                <a:latin typeface="Franklin Gothic Book"/>
              </a:defRPr>
            </a:pPr>
            <a:r>
              <a:t>Numeric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439826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1=Sunday … 7=Saturday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983479"/>
            <a:ext cx="68580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5056631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DEP_HOUR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0" y="5056631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B991"/>
                </a:solidFill>
                <a:latin typeface="Franklin Gothic Book"/>
              </a:defRPr>
            </a:pPr>
            <a:r>
              <a:t>Numeric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5056631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Scheduled departure hour (0–23)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641848"/>
            <a:ext cx="6858000" cy="64008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48640" y="57150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DISTANCE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57150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B991"/>
                </a:solidFill>
                <a:latin typeface="Franklin Gothic Book"/>
              </a:defRPr>
            </a:pPr>
            <a:r>
              <a:t>Numeric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57150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Flight distance in miles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98079" y="1188720"/>
            <a:ext cx="4389120" cy="320040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772400" y="13716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B991"/>
                </a:solidFill>
                <a:latin typeface="Franklin Gothic Book"/>
              </a:defRPr>
            </a:pPr>
            <a:r>
              <a:t>TARGET LABEL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19202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CFB991"/>
                </a:solidFill>
                <a:latin typeface="Franklin Gothic Book"/>
              </a:defRPr>
            </a:pPr>
            <a: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292608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Franklin Gothic Book"/>
              </a:defRPr>
            </a:pPr>
            <a:r>
              <a:t>DELAYED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338328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5F0E8"/>
                </a:solidFill>
                <a:latin typeface="Franklin Gothic Book"/>
              </a:defRPr>
            </a:pPr>
            <a:r>
              <a:t>DEP_DELAY &gt; 15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728346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5F0E8"/>
                </a:solidFill>
                <a:latin typeface="Franklin Gothic Book"/>
              </a:defRPr>
            </a:pPr>
            <a:r>
              <a:t>0  = On-Time</a:t>
            </a:r>
          </a:p>
          <a:p>
            <a:pPr algn="l">
              <a:defRPr sz="1600" b="0">
                <a:solidFill>
                  <a:srgbClr val="F5F0E8"/>
                </a:solidFill>
                <a:latin typeface="Franklin Gothic Book"/>
              </a:defRPr>
            </a:pPr>
            <a:r>
              <a:t>1  = Delayed (&gt;15 min)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457200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1C1C"/>
                </a:solidFill>
                <a:latin typeface="Franklin Gothic Book"/>
              </a:defRPr>
            </a:pPr>
            <a:r>
              <a:t>⚠  No leakage: DEP_DELAY, ARR_DELAY,</a:t>
            </a:r>
          </a:p>
          <a:p>
            <a:pPr algn="l">
              <a:defRPr sz="1400" b="0">
                <a:solidFill>
                  <a:srgbClr val="1C1C1C"/>
                </a:solidFill>
                <a:latin typeface="Franklin Gothic Book"/>
              </a:defRPr>
            </a:pPr>
            <a:r>
              <a:t>   and DELAY_DUE_* not used as features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Feature Importance — What Drives Delays?</a:t>
            </a:r>
          </a:p>
        </p:txBody>
      </p:sp>
      <p:pic>
        <p:nvPicPr>
          <p:cNvPr id="7" name="Picture 6" descr="feature_importanc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629763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Model Comparison — 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11521440" cy="50292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6187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2618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26187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59" y="126187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Precision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2618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19" y="126187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F1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719072"/>
            <a:ext cx="11521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178308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Logistic Regression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7830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0.6514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178308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0.8239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178308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0.7525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17830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0.8239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19" y="17830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0.7448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404872"/>
            <a:ext cx="11521440" cy="658368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246888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Random Forest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24688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0.6476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246888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0.8240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9" y="246888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0.6789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4688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0.8240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19" y="24688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0.7444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090672"/>
            <a:ext cx="11521440" cy="658368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315468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Tuned Random Forest 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31546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0.6525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7840" y="315468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0.8240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59" y="315468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0.6789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31546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0.8240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19" y="31546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0.7444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38862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★ Best model: Tuned RF (numTrees=200, maxDepth=15)  ·  ~0.65 AUC reflects the inherent limit of pre-departure features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Model Comparison — AUC · Accuracy · F1 Score</a:t>
            </a:r>
          </a:p>
        </p:txBody>
      </p:sp>
      <p:pic>
        <p:nvPicPr>
          <p:cNvPr id="7" name="Picture 6" descr="model_compariso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680870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Interpretation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55778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463039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C1C"/>
                </a:solidFill>
                <a:latin typeface="Franklin Gothic Book"/>
              </a:defRPr>
            </a:pPr>
            <a:r>
              <a:t>~0.65 AUC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C1C1C"/>
                </a:solidFill>
                <a:latin typeface="Franklin Gothic Book"/>
              </a:defRPr>
            </a:pPr>
            <a:r>
              <a:t>Moderate predictive power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All 3 models perform similarly — pre-departure features have a ceiling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280160"/>
            <a:ext cx="55778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463039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C1C"/>
                </a:solidFill>
                <a:latin typeface="Franklin Gothic Book"/>
              </a:defRPr>
            </a:pPr>
            <a:r>
              <a:t>DEP_HOUR 27.7%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194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C1C1C"/>
                </a:solidFill>
                <a:latin typeface="Franklin Gothic Book"/>
              </a:defRPr>
            </a:pPr>
            <a:r>
              <a:t>Top predictor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6517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Evening flights delay more — cascading effect from earlier flights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794760"/>
            <a:ext cx="55778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9776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C1C"/>
                </a:solidFill>
                <a:latin typeface="Franklin Gothic Book"/>
              </a:defRPr>
            </a:pPr>
            <a:r>
              <a:t>82% On-Time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C1C1C"/>
                </a:solidFill>
                <a:latin typeface="Franklin Gothic Book"/>
              </a:defRPr>
            </a:pPr>
            <a:r>
              <a:t>Class imbalance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663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Models tend to predict majority class — class weights would help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794760"/>
            <a:ext cx="55778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0" y="39776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C1C"/>
                </a:solidFill>
                <a:latin typeface="Franklin Gothic Book"/>
              </a:defRPr>
            </a:pPr>
            <a:r>
              <a:t>Consistent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C1C1C"/>
                </a:solidFill>
                <a:latin typeface="Franklin Gothic Book"/>
              </a:defRPr>
            </a:pPr>
            <a:r>
              <a:t>Tuned RF wins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1663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Marginal improvement from hyperparameter tuning; more data or features needed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CFB991"/>
                </a:solidFill>
                <a:latin typeface="Franklin Gothic Book"/>
              </a:defRPr>
            </a:pPr>
            <a: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54864" cy="36576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21031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MLOps Practices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8404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FB991"/>
                </a:solidFill>
                <a:latin typeface="Franklin Gothic Book"/>
              </a:defRPr>
            </a:pPr>
            <a:r>
              <a:t>Spark Pipelines  ·  MLflow  ·  Experiment tracking  ·  Reproducibility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Automated Spark Pipeline + MLflow Tracking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486400" cy="4572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3533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SPARK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783080"/>
            <a:ext cx="54864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874519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FB991"/>
                </a:solidFill>
                <a:latin typeface="Franklin Gothic Book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92024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StringIndexer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67004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971800"/>
            <a:ext cx="54864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3063239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FB991"/>
                </a:solidFill>
                <a:latin typeface="Franklin Gothic Book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10896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OneHotEncoder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8587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4160520"/>
            <a:ext cx="54864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FB991"/>
                </a:solidFill>
                <a:latin typeface="Franklin Gothic Book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29768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VectorAssembler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50474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5349240"/>
            <a:ext cx="54864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544068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FB991"/>
                </a:solidFill>
                <a:latin typeface="Franklin Gothic Book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48640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RandomForestClassifier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280160"/>
            <a:ext cx="5486400" cy="4572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0" y="13533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MLFLOW EXPERIMENT TRACKING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1810512"/>
            <a:ext cx="548640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0" y="190195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C1C1C"/>
                </a:solidFill>
                <a:latin typeface="Franklin Gothic Book"/>
              </a:defRPr>
            </a:pPr>
            <a:r>
              <a:t>Logistic Regression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90195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AUC 0.6514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190195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F1 0.7448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044952"/>
            <a:ext cx="5486400" cy="1097280"/>
          </a:xfrm>
          <a:prstGeom prst="round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83680" y="313639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C1C1C"/>
                </a:solidFill>
                <a:latin typeface="Franklin Gothic Book"/>
              </a:defRPr>
            </a:pPr>
            <a:r>
              <a:t>Random Forest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13639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AUC 0.6476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313639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F1 0.7444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4279392"/>
            <a:ext cx="5486400" cy="1097280"/>
          </a:xfrm>
          <a:prstGeom prst="round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83680" y="437083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C1C1C"/>
                </a:solidFill>
                <a:latin typeface="Franklin Gothic Book"/>
              </a:defRPr>
            </a:pPr>
            <a:r>
              <a:t>Tuned RF  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437083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AUC 0.6525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89920" y="437083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F1 0.7444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5778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Parameters, metrics, and models logged per run.</a:t>
            </a:r>
          </a:p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Accessible via Databricks Experiments sidebar.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CFB991"/>
                </a:solidFill>
                <a:latin typeface="Franklin Gothic Book"/>
              </a:defRPr>
            </a:pPr>
            <a: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54864" cy="36576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1828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Insights &amp; Business</a:t>
            </a:r>
          </a:p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Recommendations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42976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FB991"/>
                </a:solidFill>
                <a:latin typeface="Franklin Gothic Book"/>
              </a:defRPr>
            </a:pPr>
            <a:r>
              <a:t>Key findings  ·  Actionable recommendations  ·  Future work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Key Insights &amp; Business Recommendations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5394960" cy="41148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2618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Franklin Gothic Book"/>
              </a:defRPr>
            </a:pPr>
            <a:r>
              <a:t>KEY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53949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783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Time of day matters most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945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DEP_HOUR drives 27.7% of predictive power. Evening = risky.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80360"/>
            <a:ext cx="53949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9718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Airline matters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832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Some carriers delay significantly more — AIRLINE is 2nd most important feature.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69080"/>
            <a:ext cx="53949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41605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Seasonal patterns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57200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MONTH contributes 5.8% — winter storms and summer demand spikes.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257800"/>
            <a:ext cx="53949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5349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Pre-departure ceiling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7607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All models top out at ~0.65 AUC — real-time data needed to go higher.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1188720"/>
            <a:ext cx="5486400" cy="41148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3680" y="12618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Franklin Gothic Book"/>
              </a:defRPr>
            </a:pPr>
            <a:r>
              <a:t>RECOMMENDATIONS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1691640"/>
            <a:ext cx="457200" cy="64008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17373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1C1C"/>
                </a:solidFill>
                <a:latin typeface="Franklin Gothic Book"/>
              </a:defRPr>
            </a:pPr>
            <a:r>
              <a:t>Flag high-risk flights (evening, certain airlines/routes) for proactive alerts to passengers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697480"/>
            <a:ext cx="457200" cy="64008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27432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724912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1C1C"/>
                </a:solidFill>
                <a:latin typeface="Franklin Gothic Book"/>
              </a:defRPr>
            </a:pPr>
            <a:r>
              <a:t>Prioritize airport staffing and gates during peak delay hours (4–8pm)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703320"/>
            <a:ext cx="457200" cy="64008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3749039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730752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1C1C"/>
                </a:solidFill>
                <a:latin typeface="Franklin Gothic Book"/>
              </a:defRPr>
            </a:pPr>
            <a:r>
              <a:t>Integrate real-time weather + air traffic feeds in production to lift AUC beyond 0.65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800600"/>
            <a:ext cx="5486400" cy="36576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83680" y="486460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Franklin Gothic Book"/>
              </a:defRPr>
            </a:pPr>
            <a:r>
              <a:t>FUTURE 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25780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C1C1C"/>
                </a:solidFill>
                <a:latin typeface="Franklin Gothic Book"/>
              </a:defRPr>
            </a:pPr>
            <a:r>
              <a:t>→  Class balancing (SMOTE) for imbalanced dataset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589788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C1C1C"/>
                </a:solidFill>
                <a:latin typeface="Franklin Gothic Book"/>
              </a:defRPr>
            </a:pPr>
            <a:r>
              <a:t>→  Add weather &amp; FAA ATC delay feeds as features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Franklin Gothic Book"/>
              </a:defRPr>
            </a:pPr>
            <a: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CFB991"/>
                </a:solidFill>
                <a:latin typeface="Franklin Gothic Book"/>
              </a:defRPr>
            </a:pPr>
            <a: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63640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rPr lang="en-US" dirty="0"/>
              <a:t>MGMT</a:t>
            </a:r>
            <a:r>
              <a:rPr dirty="0"/>
              <a:t> 590  ·  Big Data Analytics &amp; </a:t>
            </a:r>
            <a:r>
              <a:rPr dirty="0" err="1"/>
              <a:t>MLOps</a:t>
            </a:r>
            <a:r>
              <a:rPr dirty="0"/>
              <a:t>  · 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1213</Words>
  <Application>Microsoft Macintosh PowerPoint</Application>
  <PresentationFormat>Custom</PresentationFormat>
  <Paragraphs>286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Sana Majeed</cp:lastModifiedBy>
  <cp:revision>5</cp:revision>
  <dcterms:created xsi:type="dcterms:W3CDTF">2013-01-27T09:14:16Z</dcterms:created>
  <dcterms:modified xsi:type="dcterms:W3CDTF">2026-03-06T04:14:50Z</dcterms:modified>
  <cp:category/>
</cp:coreProperties>
</file>