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78" r:id="rId12"/>
    <p:sldId id="279" r:id="rId13"/>
    <p:sldId id="281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58"/>
    <p:restoredTop sz="94681"/>
  </p:normalViewPr>
  <p:slideViewPr>
    <p:cSldViewPr snapToGrid="0" snapToObjects="1">
      <p:cViewPr varScale="1">
        <p:scale>
          <a:sx n="101" d="100"/>
          <a:sy n="101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FB991"/>
                </a:solidFill>
                <a:latin typeface="Franklin Gothic Book"/>
              </a:defRPr>
            </a:pPr>
            <a:r>
              <a:rPr lang="en-US" dirty="0"/>
              <a:t>MGMT </a:t>
            </a:r>
            <a:r>
              <a:rPr dirty="0"/>
              <a:t>590  ·  Big Data Analytics &amp; </a:t>
            </a:r>
            <a:r>
              <a:rPr dirty="0" err="1"/>
              <a:t>MLOps</a:t>
            </a:r>
            <a:r>
              <a:rPr dirty="0"/>
              <a:t>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Franklin Gothic Book"/>
              </a:defRPr>
            </a:pPr>
            <a:r>
              <a:rPr dirty="0"/>
              <a:t>Flight Delay</a:t>
            </a:r>
          </a:p>
          <a:p>
            <a:pPr algn="l">
              <a:defRPr sz="6400" b="1">
                <a:solidFill>
                  <a:srgbClr val="FFFFFF"/>
                </a:solidFill>
                <a:latin typeface="Franklin Gothic Book"/>
              </a:defRPr>
            </a:pPr>
            <a:r>
              <a:rPr dirty="0"/>
              <a:t>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0E8"/>
                </a:solidFill>
                <a:latin typeface="Franklin Gothic Book"/>
              </a:defRPr>
            </a:pPr>
            <a:r>
              <a:t>Using Apache Spark · Hive · MLlib on Databricks</a:t>
            </a:r>
          </a:p>
          <a:p>
            <a:pPr algn="l">
              <a:defRPr sz="2200" b="0">
                <a:solidFill>
                  <a:srgbClr val="F5F0E8"/>
                </a:solidFill>
                <a:latin typeface="Franklin Gothic Book"/>
              </a:defRPr>
            </a:pPr>
            <a:r>
              <a:t>US Flights 2019–2023  ·  3 Million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80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Data Selection &amp; Problem Definition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57400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Data Ingestion &amp; Preprocessing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26080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17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Exploratory Data Analysis (EDA)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94759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88619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8619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  <a:latin typeface="Franklin Gothic Book"/>
              </a:defRPr>
            </a:pPr>
            <a:r>
              <a:t>Predictive Modeling with Spark MLlib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663440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47548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  <a:latin typeface="Franklin Gothic Book"/>
              </a:defRPr>
            </a:pPr>
            <a:r>
              <a:t>MLOps Practices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532120"/>
            <a:ext cx="548640" cy="64008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6235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991"/>
                </a:solidFill>
                <a:latin typeface="Franklin Gothic Book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2355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Insights &amp; 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Data Selection &amp;</a:t>
            </a:r>
          </a:p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Problem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B991"/>
                </a:solidFill>
                <a:latin typeface="Franklin Gothic Book"/>
              </a:defRPr>
            </a:pPr>
            <a:r>
              <a:t>Dataset  ·  Business problem  ·  Target 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Data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3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  <a:latin typeface="Franklin Gothic Book"/>
              </a:defRPr>
            </a:pPr>
            <a:r>
              <a:t>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  <a:latin typeface="Franklin Gothic Book"/>
              </a:defRPr>
            </a:pPr>
            <a:r>
              <a:t>Flight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flights_sample_3m.csv  ·  2019–2023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5486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46303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  <a:latin typeface="Franklin Gothic Book"/>
              </a:defRPr>
            </a:pPr>
            <a:r>
              <a:t>2.9M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  <a:latin typeface="Franklin Gothic Book"/>
              </a:defRPr>
            </a:pPr>
            <a:r>
              <a:t>Modeling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After filtering cancelled flights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79"/>
            <a:ext cx="5486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  <a:latin typeface="Franklin Gothic Book"/>
              </a:defRPr>
            </a:pPr>
            <a:r>
              <a:t>17.6%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  <a:latin typeface="Franklin Gothic Book"/>
              </a:defRPr>
            </a:pPr>
            <a:r>
              <a:t>Delayed Flights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39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DEP_DELAY &gt; 15 min (FAA standard)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40479"/>
            <a:ext cx="5486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402335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  <a:latin typeface="Franklin Gothic Book"/>
              </a:defRPr>
            </a:pPr>
            <a:r>
              <a:t>82.4%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83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  <a:latin typeface="Franklin Gothic Book"/>
              </a:defRPr>
            </a:pPr>
            <a:r>
              <a:t>On-Time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48639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Within 15 min of scheduled departure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Business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640080" cy="822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Franklin Gothic Book"/>
              </a:defRPr>
            </a:pPr>
            <a:r>
              <a:t>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716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Can we predict if a flight will be delayed</a:t>
            </a:r>
          </a:p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before it departs?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60320"/>
            <a:ext cx="640080" cy="822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Franklin Gothic Book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Target: Binary — Delayed (&gt;15 min) vs On-Time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79"/>
            <a:ext cx="640080" cy="822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319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Franklin Gothic Book"/>
              </a:defRPr>
            </a:pPr>
            <a: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19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Use case: Airlines, airports, travelers — proactive planning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120640"/>
            <a:ext cx="640080" cy="822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521207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Franklin Gothic Book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79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C1C1C"/>
                </a:solidFill>
                <a:latin typeface="Franklin Gothic Book"/>
              </a:defRPr>
            </a:pPr>
            <a:r>
              <a:t>Challenge: Real-time factors (weather, ATC) drive many delays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Data Ingestion &amp;</a:t>
            </a:r>
          </a:p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B991"/>
                </a:solidFill>
                <a:latin typeface="Franklin Gothic Book"/>
              </a:defRPr>
            </a:pPr>
            <a:r>
              <a:t>Databricks DBFS  ·  Spark  ·  Cleaning  ·  Feature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Data Ingestion &amp; 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80160" y="1371600"/>
            <a:ext cx="914400" cy="91440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B991"/>
                </a:solidFill>
                <a:latin typeface="Franklin Gothic Book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Upload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2011679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flights_sample_3m.csv → Databricks</a:t>
            </a:r>
          </a:p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/Volumes/workspace/default/bigdataproject/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FB991"/>
                </a:solidFill>
                <a:latin typeface="Franklin Gothic Book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14800" y="1371600"/>
            <a:ext cx="914400" cy="91440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B991"/>
                </a:solidFill>
                <a:latin typeface="Franklin Gothic Book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Read with Spark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108960"/>
            <a:ext cx="2011679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32461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spark.read.csv(..., header=True, inferSchema=True)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FB991"/>
                </a:solidFill>
                <a:latin typeface="Franklin Gothic Book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28016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49440" y="1371600"/>
            <a:ext cx="914400" cy="91440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B991"/>
                </a:solidFill>
                <a:latin typeface="Franklin Gothic Book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Clean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108960"/>
            <a:ext cx="2011679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32461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Remove duplicates · Filter cancelled flights · Handle nulls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FB991"/>
                </a:solidFill>
                <a:latin typeface="Franklin Gothic Book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128016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784080" y="1371600"/>
            <a:ext cx="914400" cy="91440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B991"/>
                </a:solidFill>
                <a:latin typeface="Franklin Gothic Book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Feature Engineering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3108960"/>
            <a:ext cx="2011679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32461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MONTH · DAY_OF_WEEK · DEP_HOUR from FL_DATE &amp; CRS_DEP_TIME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Exploratory Data</a:t>
            </a:r>
          </a:p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FB991"/>
                </a:solidFill>
                <a:latin typeface="Franklin Gothic Book"/>
              </a:defRPr>
            </a:pPr>
            <a:r>
              <a:t>Delay breakdown  ·  Airline comparison  ·  Temporal patterns  ·  Visualizations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EDA — Key Findings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C1C"/>
                </a:solidFill>
                <a:latin typeface="Franklin Gothic Book"/>
              </a:defRPr>
            </a:pPr>
            <a:r>
              <a:t>17.6%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Delayed Flights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960"/>
                </a:solidFill>
                <a:latin typeface="Franklin Gothic Book"/>
              </a:defRPr>
            </a:pPr>
            <a:r>
              <a:rPr lang="en-US" dirty="0"/>
              <a:t>ARR</a:t>
            </a:r>
            <a:r>
              <a:rPr dirty="0"/>
              <a:t>_DELAY &gt; 15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371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C1C"/>
                </a:solidFill>
                <a:latin typeface="Franklin Gothic Book"/>
              </a:defRPr>
            </a:pPr>
            <a:r>
              <a:t>82.4%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On-Time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960"/>
                </a:solidFill>
                <a:latin typeface="Franklin Gothic Book"/>
              </a:defRPr>
            </a:pPr>
            <a:r>
              <a:t>Within 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188720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C1C"/>
                </a:solidFill>
                <a:latin typeface="Franklin Gothic Book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Delay Causes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960"/>
                </a:solidFill>
                <a:latin typeface="Franklin Gothic Book"/>
              </a:defRPr>
            </a:pPr>
            <a:r>
              <a:t>Carrier · Weather · NAS · Security · Late Aircraft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188720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371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C1C"/>
                </a:solidFill>
                <a:latin typeface="Franklin Gothic Book"/>
              </a:defRPr>
            </a:pPr>
            <a:r>
              <a:t>Evening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Riskiest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960"/>
                </a:solidFill>
                <a:latin typeface="Franklin Gothic Book"/>
              </a:defRPr>
            </a:pPr>
            <a:r>
              <a:t>Cascading delays pile up through the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411480" cy="411480"/>
          </a:xfrm>
          <a:prstGeom prst="round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69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Delay causes cascade — carrier and late aircraft delays dominate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800600"/>
            <a:ext cx="411480" cy="411480"/>
          </a:xfrm>
          <a:prstGeom prst="round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846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Certain airlines and origin airports show significantly higher delay rates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577840"/>
            <a:ext cx="411480" cy="411480"/>
          </a:xfrm>
          <a:prstGeom prst="round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623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rPr dirty="0"/>
              <a:t>Monthly trends: Summer and winter show higher delay 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1C1C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EDA — Delay Rate by Departure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C1C1C"/>
                </a:solidFill>
              </a:rPr>
              <a:t>Cascade accumulation drives evening risk</a:t>
            </a:r>
          </a:p>
        </p:txBody>
      </p:sp>
      <p:pic>
        <p:nvPicPr>
          <p:cNvPr id="8" name="Picture 7" descr="chart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8046720" cy="37490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417320"/>
            <a:ext cx="3520440" cy="516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1417320"/>
            <a:ext cx="3520440" cy="73152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FB991"/>
                </a:solidFill>
              </a:rPr>
              <a:t>KEY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993392"/>
            <a:ext cx="3246120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2103120"/>
            <a:ext cx="333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50" dirty="0">
                <a:solidFill>
                  <a:srgbClr val="1C1C1C"/>
                </a:solidFill>
              </a:rPr>
              <a:t>▸ 5–6 AM departures have the lowest delay risk (~14%)</a:t>
            </a:r>
          </a:p>
          <a:p>
            <a:pPr>
              <a:spcBef>
                <a:spcPts val="600"/>
              </a:spcBef>
            </a:pP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600"/>
              </a:spcBef>
            </a:pPr>
            <a:r>
              <a:rPr sz="1150" dirty="0">
                <a:solidFill>
                  <a:srgbClr val="1C1C1C"/>
                </a:solidFill>
              </a:rPr>
              <a:t>▸ Delay probability rises steadily — exceeding 40% for flights departing after 8 PM</a:t>
            </a:r>
          </a:p>
          <a:p>
            <a:pPr>
              <a:spcBef>
                <a:spcPts val="600"/>
              </a:spcBef>
            </a:pP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600"/>
              </a:spcBef>
            </a:pPr>
            <a:r>
              <a:rPr sz="1150" dirty="0">
                <a:solidFill>
                  <a:srgbClr val="1C1C1C"/>
                </a:solidFill>
              </a:rPr>
              <a:t>▸ Cascade effect: each delayed inbound flight reduces the probability the next departure leaves on time</a:t>
            </a:r>
          </a:p>
          <a:p>
            <a:pPr>
              <a:spcBef>
                <a:spcPts val="600"/>
              </a:spcBef>
            </a:pP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600"/>
              </a:spcBef>
            </a:pPr>
            <a:r>
              <a:rPr sz="1150" dirty="0">
                <a:solidFill>
                  <a:srgbClr val="1C1C1C"/>
                </a:solidFill>
              </a:rPr>
              <a:t>▸ DEP_HOUR is the single strongest predictor in the ML model (27.7% feature importance)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1C1C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EDA — Airline Performance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1C1C1C"/>
                </a:solidFill>
              </a:rPr>
              <a:t>Delay rate vs. average delay severity</a:t>
            </a:r>
          </a:p>
        </p:txBody>
      </p:sp>
      <p:pic>
        <p:nvPicPr>
          <p:cNvPr id="8" name="Picture 7" descr="chart_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8046720" cy="37490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417320"/>
            <a:ext cx="3520440" cy="516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1417320"/>
            <a:ext cx="3520440" cy="73152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FB991"/>
                </a:solidFill>
              </a:rPr>
              <a:t>KEY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993392"/>
            <a:ext cx="3246120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2103120"/>
            <a:ext cx="3337560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50" dirty="0">
                <a:solidFill>
                  <a:srgbClr val="1C1C1C"/>
                </a:solidFill>
              </a:rPr>
              <a:t>▸ JetBlue worst for severity: 54 min avg delay — 26 min worse than Alaska</a:t>
            </a:r>
          </a:p>
          <a:p>
            <a:pPr>
              <a:spcBef>
                <a:spcPts val="600"/>
              </a:spcBef>
            </a:pP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600"/>
              </a:spcBef>
            </a:pPr>
            <a:r>
              <a:rPr sz="1150" dirty="0">
                <a:solidFill>
                  <a:srgbClr val="1C1C1C"/>
                </a:solidFill>
              </a:rPr>
              <a:t>▸ Southwest highest volume of delays (201,632) — reflects scale, not necessarily poor performance</a:t>
            </a:r>
          </a:p>
          <a:p>
            <a:pPr>
              <a:spcBef>
                <a:spcPts val="600"/>
              </a:spcBef>
            </a:pP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600"/>
              </a:spcBef>
            </a:pPr>
            <a:r>
              <a:rPr sz="1150" dirty="0">
                <a:solidFill>
                  <a:srgbClr val="1C1C1C"/>
                </a:solidFill>
              </a:rPr>
              <a:t>▸ Alaska best overall: lowest rate (26.1%) and shortest delays (28.3 min)</a:t>
            </a:r>
          </a:p>
          <a:p>
            <a:pPr>
              <a:spcBef>
                <a:spcPts val="600"/>
              </a:spcBef>
            </a:pP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600"/>
              </a:spcBef>
            </a:pPr>
            <a:r>
              <a:rPr sz="1150" dirty="0">
                <a:solidFill>
                  <a:srgbClr val="1C1C1C"/>
                </a:solidFill>
              </a:rPr>
              <a:t>▸ Spirit elevated delay rate (36%) suggests structural scheduling challenges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1C1C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</a:rPr>
              <a:t>EDA — Monthly Delay Rate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C1C1C"/>
                </a:solidFill>
              </a:rPr>
              <a:t>Summer and winter peaks bracket a September trough</a:t>
            </a:r>
          </a:p>
        </p:txBody>
      </p:sp>
      <p:pic>
        <p:nvPicPr>
          <p:cNvPr id="8" name="Picture 7" descr="chart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8046720" cy="37490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417320"/>
            <a:ext cx="3520440" cy="516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1417320"/>
            <a:ext cx="3520440" cy="73152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FB991"/>
                </a:solidFill>
              </a:rPr>
              <a:t>KEY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993392"/>
            <a:ext cx="3246120" cy="36576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2103120"/>
            <a:ext cx="333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50">
                <a:solidFill>
                  <a:srgbClr val="1C1C1C"/>
                </a:solidFill>
              </a:rPr>
              <a:t>▸ June (39.6%) and July (37.8%) are the riskiest months — summer travel demand + convective weather</a:t>
            </a:r>
          </a:p>
          <a:p>
            <a:pPr>
              <a:spcBef>
                <a:spcPts val="600"/>
              </a:spcBef>
            </a:pPr>
            <a:endParaRPr sz="1150">
              <a:solidFill>
                <a:srgbClr val="1C1C1C"/>
              </a:solidFill>
            </a:endParaRP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C1C1C"/>
                </a:solidFill>
              </a:rPr>
              <a:t>▸ December spike (37.5%) driven by winter storms and holiday traffic concentration</a:t>
            </a:r>
          </a:p>
          <a:p>
            <a:pPr>
              <a:spcBef>
                <a:spcPts val="600"/>
              </a:spcBef>
            </a:pPr>
            <a:endParaRPr sz="1150">
              <a:solidFill>
                <a:srgbClr val="1C1C1C"/>
              </a:solidFill>
            </a:endParaRP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C1C1C"/>
                </a:solidFill>
              </a:rPr>
              <a:t>▸ September is the safest month at 27.1% — post-summer lull, pre-winter</a:t>
            </a:r>
          </a:p>
          <a:p>
            <a:pPr>
              <a:spcBef>
                <a:spcPts val="600"/>
              </a:spcBef>
            </a:pPr>
            <a:endParaRPr sz="1150">
              <a:solidFill>
                <a:srgbClr val="1C1C1C"/>
              </a:solidFill>
            </a:endParaRP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C1C1C"/>
                </a:solidFill>
              </a:rPr>
              <a:t>▸ MONTH is the 3rd strongest feature in the RF model (5.8% importance)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22860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C1C1C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</a:rPr>
              <a:t>EDA — Flight Volume &amp; Temporal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32688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C1C1C"/>
                </a:solidFill>
              </a:rPr>
              <a:t>Seasonal patterns and COVID-19 impact (Fig. 17)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353312"/>
            <a:ext cx="356616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1353312"/>
            <a:ext cx="3566160" cy="64008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1481328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FB991"/>
                </a:solidFill>
              </a:rPr>
              <a:t>KEY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901952"/>
            <a:ext cx="3291840" cy="27432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1993392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1C1C1C"/>
                </a:solidFill>
              </a:rPr>
              <a:t>▸ COVID-19 caused a 70% traffic collapse (Mar–Apr 2020); full recovery by mid-2022</a:t>
            </a:r>
          </a:p>
          <a:p>
            <a:pPr>
              <a:spcBef>
                <a:spcPts val="500"/>
              </a:spcBef>
            </a:pPr>
            <a:endParaRPr sz="115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C1C1C"/>
                </a:solidFill>
              </a:rPr>
              <a:t>▸ Seasonal peaks: June (39.6%) and July (37.8%) — summer demand + convective weather</a:t>
            </a:r>
          </a:p>
          <a:p>
            <a:pPr>
              <a:spcBef>
                <a:spcPts val="500"/>
              </a:spcBef>
            </a:pPr>
            <a:endParaRPr sz="115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C1C1C"/>
                </a:solidFill>
              </a:rPr>
              <a:t>▸ December spike (37.5%) — winter storms + holiday concentration</a:t>
            </a:r>
          </a:p>
          <a:p>
            <a:pPr>
              <a:spcBef>
                <a:spcPts val="500"/>
              </a:spcBef>
            </a:pPr>
            <a:endParaRPr sz="115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C1C1C"/>
                </a:solidFill>
              </a:rPr>
              <a:t>▸ September is the cleanest month at 27.1% — post-summer lull</a:t>
            </a:r>
          </a:p>
        </p:txBody>
      </p:sp>
      <p:pic>
        <p:nvPicPr>
          <p:cNvPr id="15" name="Picture 14" descr="A graph with a line&#10;&#10;AI-generated content may be incorrect.">
            <a:extLst>
              <a:ext uri="{FF2B5EF4-FFF2-40B4-BE49-F238E27FC236}">
                <a16:creationId xmlns:a16="http://schemas.microsoft.com/office/drawing/2014/main" id="{965F3D7F-0838-01AF-CC76-5AA607AD0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7735824" cy="2743903"/>
          </a:xfrm>
          <a:prstGeom prst="rect">
            <a:avLst/>
          </a:prstGeom>
        </p:spPr>
      </p:pic>
      <p:pic>
        <p:nvPicPr>
          <p:cNvPr id="16" name="Picture 1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38496FA-8482-1ACD-1EC3-6387D312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58985"/>
            <a:ext cx="7735824" cy="2669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Predictive Modeling</a:t>
            </a:r>
          </a:p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with Spark MLlib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B991"/>
                </a:solidFill>
                <a:latin typeface="Franklin Gothic Book"/>
              </a:defRPr>
            </a:pPr>
            <a:r>
              <a:t>Classification  ·  Feature engineering  ·  3 models  ·  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ML Pipeline — From Raw Data to Predictions</a:t>
            </a:r>
          </a:p>
        </p:txBody>
      </p:sp>
      <p:pic>
        <p:nvPicPr>
          <p:cNvPr id="7" name="Picture 6" descr="flowchart_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1036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Features Used for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685800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261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6858000" cy="640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647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AIRLINE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647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Categorical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647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Encoded via StringIndexer + OHE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50008"/>
            <a:ext cx="6858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ORIGIN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23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Categorical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Departure airport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08376"/>
            <a:ext cx="6858000" cy="640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0815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081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Categorical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0815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Arrival airport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66744"/>
            <a:ext cx="6858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7398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73989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Numeric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7398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Month of year (1–12)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25112"/>
            <a:ext cx="6858000" cy="640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3982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DAY_OF_WEEK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39826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Numeric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3982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1=Sunday … 7=Saturday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83479"/>
            <a:ext cx="6858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0566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DEP_HOUR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056631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Numeric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0566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Scheduled departure hour (0–23)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41848"/>
            <a:ext cx="6858000" cy="640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DISTANCE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715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991"/>
                </a:solidFill>
                <a:latin typeface="Franklin Gothic Book"/>
              </a:defRPr>
            </a:pPr>
            <a:r>
              <a:t>Numeric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5715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Flight distance in miles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1188720"/>
            <a:ext cx="4389120" cy="320040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0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B991"/>
                </a:solidFill>
                <a:latin typeface="Franklin Gothic Book"/>
              </a:defRPr>
            </a:pPr>
            <a:r>
              <a:t>TARGET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1920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CFB991"/>
                </a:solidFill>
                <a:latin typeface="Franklin Gothic Book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9260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Franklin Gothic Book"/>
              </a:defRPr>
            </a:pPr>
            <a:r>
              <a:t>DELAYED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3832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0E8"/>
                </a:solidFill>
                <a:latin typeface="Franklin Gothic Book"/>
              </a:defRPr>
            </a:pPr>
            <a:r>
              <a:t>DEP_DELAY &gt; 15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728346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0E8"/>
                </a:solidFill>
                <a:latin typeface="Franklin Gothic Book"/>
              </a:defRPr>
            </a:pPr>
            <a:r>
              <a:t>0  = On-Time</a:t>
            </a:r>
          </a:p>
          <a:p>
            <a:pPr algn="l">
              <a:defRPr sz="1600" b="0">
                <a:solidFill>
                  <a:srgbClr val="F5F0E8"/>
                </a:solidFill>
                <a:latin typeface="Franklin Gothic Book"/>
              </a:defRPr>
            </a:pPr>
            <a:r>
              <a:t>1  = Delayed (&gt;15 min)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5720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C1C"/>
                </a:solidFill>
                <a:latin typeface="Franklin Gothic Book"/>
              </a:defRPr>
            </a:pPr>
            <a:r>
              <a:t>⚠  No leakage: DEP_DELAY, ARR_DELAY,</a:t>
            </a:r>
          </a:p>
          <a:p>
            <a:pPr algn="l">
              <a:defRPr sz="1400" b="0">
                <a:solidFill>
                  <a:srgbClr val="1C1C1C"/>
                </a:solidFill>
                <a:latin typeface="Franklin Gothic Book"/>
              </a:defRPr>
            </a:pPr>
            <a:r>
              <a:t>   and DELAY_DUE_* not used as 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Feature Importance — What Drives Delays?</a:t>
            </a:r>
          </a:p>
        </p:txBody>
      </p:sp>
      <p:pic>
        <p:nvPicPr>
          <p:cNvPr id="7" name="Picture 6" descr="feature_importan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62976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Model Comparison —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521440" cy="5029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61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261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9" y="12618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830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0.6514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7830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0.8239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17830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0.7525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7830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0.8239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9" y="1783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0.7448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04872"/>
            <a:ext cx="1152144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468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0.6476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4688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0.8240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24688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0.6789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468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0.8240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9" y="24688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C1C1C"/>
                </a:solidFill>
                <a:latin typeface="Franklin Gothic Book"/>
              </a:defRPr>
            </a:pPr>
            <a:r>
              <a:t>0.7444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90672"/>
            <a:ext cx="11521440" cy="658368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1546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Tuned Random Forest 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1546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0.6525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154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0.8240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3154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0.6789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1546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0.8240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9" y="31546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0.7444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8862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★ Best model: Tuned RF (numTrees=200, maxDepth=15)  ·  ~0.65 AUC reflects the inherent limit of pre-departure features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Model Comparison — AUC · Accuracy · F1 Score</a:t>
            </a:r>
          </a:p>
        </p:txBody>
      </p:sp>
      <p:pic>
        <p:nvPicPr>
          <p:cNvPr id="7" name="Picture 6" descr="mode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68087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577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  <a:latin typeface="Franklin Gothic Book"/>
              </a:defRPr>
            </a:pPr>
            <a:r>
              <a:t>~0.65 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Moderate predictive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All 3 models perform similarly — pre-departure features have a ceiling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577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  <a:latin typeface="Franklin Gothic Book"/>
              </a:defRPr>
            </a:pPr>
            <a:r>
              <a:t>DEP_HOUR 27.7%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Top 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Evening flights delay more — cascading effect from earlier flights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5577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  <a:latin typeface="Franklin Gothic Book"/>
              </a:defRPr>
            </a:pPr>
            <a:r>
              <a:t>82% On-Time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Class imbalance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Models tend to predict majority class — class weights would help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94760"/>
            <a:ext cx="5577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977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  <a:latin typeface="Franklin Gothic Book"/>
              </a:defRPr>
            </a:pPr>
            <a:r>
              <a:t>Consistent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Tuned RF wins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663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Marginal improvement from hyperparameter tuning; more data or features needed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2103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MLOps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840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B991"/>
                </a:solidFill>
                <a:latin typeface="Franklin Gothic Book"/>
              </a:defRPr>
            </a:pPr>
            <a:r>
              <a:t>Spark Pipelines  ·  MLflow  ·  Experiment tracking  ·  Reproducibility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Automated Spark Pipeline + MLflow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SPARK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8308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B991"/>
                </a:solidFill>
                <a:latin typeface="Franklin Gothic Boo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202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StringIndexer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70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7180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3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B991"/>
                </a:solidFill>
                <a:latin typeface="Franklin Gothic Book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089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OneHotEncoder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6052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B991"/>
                </a:solidFill>
                <a:latin typeface="Franklin Gothic Book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976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VectorAssembler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047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34924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4406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B991"/>
                </a:solidFill>
                <a:latin typeface="Franklin Gothic Book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48640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  <a:latin typeface="Franklin Gothic Book"/>
              </a:defRPr>
            </a:pPr>
            <a:r>
              <a:t>RandomForestClassifier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1353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Franklin Gothic Book"/>
              </a:defRPr>
            </a:pPr>
            <a:r>
              <a:t>MLFLOW EXPERIMENT TRACKING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810512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90195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Logistic Regression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9019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AUC 0.6514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19019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F1 0.7448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044952"/>
            <a:ext cx="5486400" cy="10972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313639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Random Forest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1363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AUC 0.6476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31363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F1 0.7444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279392"/>
            <a:ext cx="5486400" cy="1097280"/>
          </a:xfrm>
          <a:prstGeom prst="round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3708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C1C1C"/>
                </a:solidFill>
                <a:latin typeface="Franklin Gothic Book"/>
              </a:defRPr>
            </a:pPr>
            <a:r>
              <a:t>Tuned RF  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37083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AUC 0.6525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437083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t>F1 0.7444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577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Parameters, metrics, and models logged per run.</a:t>
            </a:r>
          </a:p>
          <a:p>
            <a:pPr algn="l">
              <a:defRPr sz="1400" b="0">
                <a:solidFill>
                  <a:srgbClr val="555960"/>
                </a:solidFill>
                <a:latin typeface="Franklin Gothic Book"/>
              </a:defRPr>
            </a:pPr>
            <a:r>
              <a:t>Accessible via Databricks Experiments sidebar.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B991"/>
                </a:solidFill>
                <a:latin typeface="Franklin Gothic Book"/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CFB991"/>
                </a:solidFill>
                <a:latin typeface="Franklin Gothic Book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54864" cy="36576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Insights &amp; Business</a:t>
            </a:r>
          </a:p>
          <a:p>
            <a:pPr algn="l">
              <a:defRPr sz="4800" b="1">
                <a:solidFill>
                  <a:srgbClr val="FFFFFF"/>
                </a:solidFill>
                <a:latin typeface="Franklin Gothic Book"/>
              </a:defRPr>
            </a:pPr>
            <a: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B991"/>
                </a:solidFill>
                <a:latin typeface="Franklin Gothic Book"/>
              </a:defRPr>
            </a:pPr>
            <a:r>
              <a:t>Key findings  ·  Actionable recommendations  ·  Future work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" y="228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Franklin Gothic Book"/>
              </a:defRPr>
            </a:pPr>
            <a:r>
              <a:t>Key Insights &amp; Business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KEY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394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Time of day matters most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DEP_HOUR drives 27.7% of predictive power. Evening = risky.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5394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Airline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Some carriers delay significantly more — AIRLINE is 2nd most important feature.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5394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Seasonal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MONTH contributes 5.8% — winter storms and summer demand spikes.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57800"/>
            <a:ext cx="5394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C"/>
                </a:solidFill>
                <a:latin typeface="Franklin Gothic Book"/>
              </a:defRPr>
            </a:pPr>
            <a:r>
              <a:t>Pre-departure ceiling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960"/>
                </a:solidFill>
                <a:latin typeface="Franklin Gothic Book"/>
              </a:defRPr>
            </a:pPr>
            <a:r>
              <a:t>All models top out at ~0.65 AUC — real-time data needed to go higher.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188720"/>
            <a:ext cx="5486400" cy="4114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261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691640"/>
            <a:ext cx="457200" cy="64008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737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7190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C1C"/>
                </a:solidFill>
                <a:latin typeface="Franklin Gothic Book"/>
              </a:defRPr>
            </a:pPr>
            <a:r>
              <a:t>Flag high-risk flights (evening, certain airlines/routes) for proactive alerts to passengers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697480"/>
            <a:ext cx="457200" cy="64008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72491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C1C"/>
                </a:solidFill>
                <a:latin typeface="Franklin Gothic Book"/>
              </a:defRPr>
            </a:pPr>
            <a:r>
              <a:t>Prioritize airport staffing and gates during peak delay hours (4–8pm)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703320"/>
            <a:ext cx="457200" cy="64008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74903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Franklin Gothic Book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3075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C1C"/>
                </a:solidFill>
                <a:latin typeface="Franklin Gothic Book"/>
              </a:defRPr>
            </a:pPr>
            <a:r>
              <a:t>Integrate real-time weather + air traffic feeds in production to lift AUC beyond 0.65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800600"/>
            <a:ext cx="5486400" cy="3657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4864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Franklin Gothic Book"/>
              </a:defRPr>
            </a:pPr>
            <a:r>
              <a:t>FUTURE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257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C1C"/>
                </a:solidFill>
                <a:latin typeface="Franklin Gothic Book"/>
              </a:defRPr>
            </a:pPr>
            <a:r>
              <a:t>→  Class balancing (SMOTE) for imbalanced 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897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C1C"/>
                </a:solidFill>
                <a:latin typeface="Franklin Gothic Book"/>
              </a:defRPr>
            </a:pPr>
            <a:r>
              <a:t>→  Add weather &amp; FAA ATC delay feeds as features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FB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Franklin Gothic Book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CFB991"/>
                </a:solidFill>
                <a:latin typeface="Franklin Gothic Book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C1C"/>
                </a:solidFill>
                <a:latin typeface="Franklin Gothic Book"/>
              </a:defRPr>
            </a:pPr>
            <a:r>
              <a:rPr lang="en-US" dirty="0"/>
              <a:t>MGMT</a:t>
            </a:r>
            <a:r>
              <a:rPr dirty="0"/>
              <a:t> 590  ·  Big Data Analytics &amp; </a:t>
            </a:r>
            <a:r>
              <a:rPr dirty="0" err="1"/>
              <a:t>MLOps</a:t>
            </a:r>
            <a:r>
              <a:rPr dirty="0"/>
              <a:t>  ·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1199</Words>
  <Application>Microsoft Macintosh PowerPoint</Application>
  <PresentationFormat>Custom</PresentationFormat>
  <Paragraphs>286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Sana Majeed</cp:lastModifiedBy>
  <cp:revision>3</cp:revision>
  <dcterms:created xsi:type="dcterms:W3CDTF">2013-01-27T09:14:16Z</dcterms:created>
  <dcterms:modified xsi:type="dcterms:W3CDTF">2026-03-06T04:11:15Z</dcterms:modified>
  <cp:category/>
</cp:coreProperties>
</file>